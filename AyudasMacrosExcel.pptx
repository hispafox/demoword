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12E81"/>
        </a:solidFill>
      </p:bgPr>
    </p:bg>
    <p:spTree>
      <p:nvGrpSpPr>
        <p:cNvPr id="1" name=""/>
        <p:cNvGrpSpPr/>
        <p:nvPr/>
      </p:nvGrpSpPr>
      <p:grpSpPr>
        <a:xfrm>
          <a:off x="0" y="0"/>
          <a:ext cx="0" cy="0"/>
          <a:chOff x="0" y="0"/>
          <a:chExt cx="0" cy="0"/>
        </a:xfrm>
      </p:grpSpPr>
      <p:sp>
        <p:nvSpPr>
          <p:cNvPr id="2" name="Text 0"/>
          <p:cNvSpPr/>
          <p:nvPr/>
        </p:nvSpPr>
        <p:spPr>
          <a:xfrm>
            <a:off x="548640" y="548640"/>
            <a:ext cx="3657600" cy="365760"/>
          </a:xfrm>
          <a:prstGeom prst="rect">
            <a:avLst/>
          </a:prstGeom>
          <a:noFill/>
          <a:ln/>
        </p:spPr>
        <p:txBody>
          <a:bodyPr wrap="square" lIns="0" tIns="0" rIns="0" bIns="0" rtlCol="0" anchor="ctr"/>
          <a:lstStyle/>
          <a:p>
            <a:pPr indent="0" marL="0">
              <a:buNone/>
            </a:pPr>
            <a:r>
              <a:rPr lang="en-US" sz="1300" b="1" spc="300" kern="0" dirty="0">
                <a:solidFill>
                  <a:srgbClr val="FFFFFF"/>
                </a:solidFill>
                <a:latin typeface="Poppins" pitchFamily="34" charset="0"/>
                <a:ea typeface="Poppins" pitchFamily="34" charset="-122"/>
                <a:cs typeface="Poppins" pitchFamily="34" charset="-120"/>
              </a:rPr>
              <a:t>NÓVARIS</a:t>
            </a:r>
            <a:endParaRPr lang="en-US" sz="1300" dirty="0"/>
          </a:p>
        </p:txBody>
      </p:sp>
      <p:sp>
        <p:nvSpPr>
          <p:cNvPr id="3" name="Shape 1"/>
          <p:cNvSpPr/>
          <p:nvPr/>
        </p:nvSpPr>
        <p:spPr>
          <a:xfrm>
            <a:off x="548640" y="960120"/>
            <a:ext cx="2011680" cy="0"/>
          </a:xfrm>
          <a:prstGeom prst="line">
            <a:avLst/>
          </a:prstGeom>
          <a:noFill/>
          <a:ln w="25400">
            <a:solidFill>
              <a:srgbClr val="E0833B"/>
            </a:solidFill>
            <a:prstDash val="solid"/>
          </a:ln>
        </p:spPr>
      </p:sp>
      <p:sp>
        <p:nvSpPr>
          <p:cNvPr id="4" name="Text 2"/>
          <p:cNvSpPr/>
          <p:nvPr/>
        </p:nvSpPr>
        <p:spPr>
          <a:xfrm>
            <a:off x="548640" y="2377440"/>
            <a:ext cx="9875520" cy="2011680"/>
          </a:xfrm>
          <a:prstGeom prst="rect">
            <a:avLst/>
          </a:prstGeom>
          <a:noFill/>
          <a:ln/>
        </p:spPr>
        <p:txBody>
          <a:bodyPr wrap="square" lIns="0" tIns="0" rIns="0" bIns="0" rtlCol="0" anchor="ctr"/>
          <a:lstStyle/>
          <a:p>
            <a:pPr indent="0" marL="0">
              <a:lnSpc>
                <a:spcPct val="110000"/>
              </a:lnSpc>
              <a:buNone/>
            </a:pPr>
            <a:r>
              <a:rPr lang="en-US" sz="4400" b="1" dirty="0">
                <a:solidFill>
                  <a:srgbClr val="FFFFFF"/>
                </a:solidFill>
                <a:latin typeface="Lora" pitchFamily="34" charset="0"/>
                <a:ea typeface="Lora" pitchFamily="34" charset="-122"/>
                <a:cs typeface="Lora" pitchFamily="34" charset="-120"/>
              </a:rPr>
              <a:t>Manual Completo de</a:t>
            </a:r>
            <a:endParaRPr lang="en-US" sz="4400" dirty="0"/>
          </a:p>
          <a:p>
            <a:pPr indent="0" marL="0">
              <a:lnSpc>
                <a:spcPct val="110000"/>
              </a:lnSpc>
              <a:buNone/>
            </a:pPr>
            <a:r>
              <a:rPr lang="en-US" sz="4400" b="1" dirty="0">
                <a:solidFill>
                  <a:srgbClr val="FFFFFF"/>
                </a:solidFill>
                <a:latin typeface="Lora" pitchFamily="34" charset="0"/>
                <a:ea typeface="Lora" pitchFamily="34" charset="-122"/>
                <a:cs typeface="Lora" pitchFamily="34" charset="-120"/>
              </a:rPr>
              <a:t>Macros en Excel</a:t>
            </a:r>
            <a:endParaRPr lang="en-US" sz="4400" dirty="0"/>
          </a:p>
        </p:txBody>
      </p:sp>
      <p:sp>
        <p:nvSpPr>
          <p:cNvPr id="5" name="Text 3"/>
          <p:cNvSpPr/>
          <p:nvPr/>
        </p:nvSpPr>
        <p:spPr>
          <a:xfrm>
            <a:off x="548640" y="4572000"/>
            <a:ext cx="8686800" cy="822960"/>
          </a:xfrm>
          <a:prstGeom prst="rect">
            <a:avLst/>
          </a:prstGeom>
          <a:noFill/>
          <a:ln/>
        </p:spPr>
        <p:txBody>
          <a:bodyPr wrap="square" lIns="0" tIns="0" rIns="0" bIns="0" rtlCol="0" anchor="ctr"/>
          <a:lstStyle/>
          <a:p>
            <a:pPr indent="0" marL="0">
              <a:buNone/>
            </a:pPr>
            <a:r>
              <a:rPr lang="en-US" sz="1600" dirty="0">
                <a:solidFill>
                  <a:srgbClr val="F1F1FB"/>
                </a:solidFill>
                <a:latin typeface="Poppins" pitchFamily="34" charset="0"/>
                <a:ea typeface="Poppins" pitchFamily="34" charset="-122"/>
                <a:cs typeface="Poppins" pitchFamily="34" charset="-120"/>
              </a:rPr>
              <a:t>Guía detallada para usuarios avanzados: sentencias, ejemplos y mejores prácticas en VBA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3657600" cy="320040"/>
          </a:xfrm>
          <a:prstGeom prst="rect">
            <a:avLst/>
          </a:prstGeom>
          <a:noFill/>
          <a:ln/>
        </p:spPr>
        <p:txBody>
          <a:bodyPr wrap="square" lIns="0" tIns="0" rIns="0" bIns="0" rtlCol="0" anchor="ctr"/>
          <a:lstStyle/>
          <a:p>
            <a:pPr indent="0" marL="0">
              <a:buNone/>
            </a:pPr>
            <a:r>
              <a:rPr lang="en-US" sz="1200" b="1" spc="300" kern="0" dirty="0">
                <a:solidFill>
                  <a:srgbClr val="4F46E5"/>
                </a:solidFill>
                <a:latin typeface="Poppins" pitchFamily="34" charset="0"/>
                <a:ea typeface="Poppins" pitchFamily="34" charset="-122"/>
                <a:cs typeface="Poppins" pitchFamily="34" charset="-120"/>
              </a:rPr>
              <a:t>NÓVARIS</a:t>
            </a:r>
            <a:endParaRPr lang="en-US" sz="1200" dirty="0"/>
          </a:p>
        </p:txBody>
      </p:sp>
      <p:sp>
        <p:nvSpPr>
          <p:cNvPr id="3" name="Shape 1"/>
          <p:cNvSpPr/>
          <p:nvPr/>
        </p:nvSpPr>
        <p:spPr>
          <a:xfrm>
            <a:off x="548640" y="685800"/>
            <a:ext cx="11091672" cy="0"/>
          </a:xfrm>
          <a:prstGeom prst="line">
            <a:avLst/>
          </a:prstGeom>
          <a:noFill/>
          <a:ln w="15875">
            <a:solidFill>
              <a:srgbClr val="312E81"/>
            </a:solidFill>
            <a:prstDash val="solid"/>
          </a:ln>
        </p:spPr>
      </p:sp>
      <p:sp>
        <p:nvSpPr>
          <p:cNvPr id="4" name="Text 2"/>
          <p:cNvSpPr/>
          <p:nvPr/>
        </p:nvSpPr>
        <p:spPr>
          <a:xfrm>
            <a:off x="548640" y="822960"/>
            <a:ext cx="11091672" cy="640080"/>
          </a:xfrm>
          <a:prstGeom prst="rect">
            <a:avLst/>
          </a:prstGeom>
          <a:noFill/>
          <a:ln/>
        </p:spPr>
        <p:txBody>
          <a:bodyPr wrap="square" lIns="0" tIns="0" rIns="0" bIns="0" rtlCol="0" anchor="ctr"/>
          <a:lstStyle/>
          <a:p>
            <a:pPr indent="0" marL="0">
              <a:buNone/>
            </a:pPr>
            <a:r>
              <a:rPr lang="en-US" sz="2800" b="1" dirty="0">
                <a:solidFill>
                  <a:srgbClr val="191A23"/>
                </a:solidFill>
                <a:latin typeface="Lora" pitchFamily="34" charset="0"/>
                <a:ea typeface="Lora" pitchFamily="34" charset="-122"/>
                <a:cs typeface="Lora" pitchFamily="34" charset="-120"/>
              </a:rPr>
              <a:t>Índice</a:t>
            </a:r>
            <a:endParaRPr lang="en-US" sz="2800" dirty="0"/>
          </a:p>
        </p:txBody>
      </p:sp>
      <p:sp>
        <p:nvSpPr>
          <p:cNvPr id="5" name="Text 3"/>
          <p:cNvSpPr/>
          <p:nvPr/>
        </p:nvSpPr>
        <p:spPr>
          <a:xfrm>
            <a:off x="548640" y="1737360"/>
            <a:ext cx="5120640" cy="42062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3C3D4A"/>
                </a:solidFill>
                <a:latin typeface="Poppins" pitchFamily="34" charset="0"/>
                <a:ea typeface="Poppins" pitchFamily="34" charset="-122"/>
                <a:cs typeface="Poppins" pitchFamily="34" charset="-120"/>
              </a:rPr>
              <a:t>Introducción a las macros en Excel</a:t>
            </a:r>
            <a:endParaRPr lang="en-US" sz="1400" dirty="0"/>
          </a:p>
          <a:p>
            <a:pPr marL="342900" indent="-342900">
              <a:spcAft>
                <a:spcPts val="1000"/>
              </a:spcAft>
              <a:buSzPct val="100000"/>
              <a:buChar char="–"/>
            </a:pPr>
            <a:r>
              <a:rPr lang="en-US" sz="1400" dirty="0">
                <a:solidFill>
                  <a:srgbClr val="3C3D4A"/>
                </a:solidFill>
                <a:latin typeface="Poppins" pitchFamily="34" charset="0"/>
                <a:ea typeface="Poppins" pitchFamily="34" charset="-122"/>
                <a:cs typeface="Poppins" pitchFamily="34" charset="-120"/>
              </a:rPr>
              <a:t>Configuración inicial</a:t>
            </a:r>
            <a:endParaRPr lang="en-US" sz="1400" dirty="0"/>
          </a:p>
          <a:p>
            <a:pPr marL="342900" indent="-342900">
              <a:spcAft>
                <a:spcPts val="1000"/>
              </a:spcAft>
              <a:buSzPct val="100000"/>
              <a:buChar char="–"/>
            </a:pPr>
            <a:r>
              <a:rPr lang="en-US" sz="1400" dirty="0">
                <a:solidFill>
                  <a:srgbClr val="3C3D4A"/>
                </a:solidFill>
                <a:latin typeface="Poppins" pitchFamily="34" charset="0"/>
                <a:ea typeface="Poppins" pitchFamily="34" charset="-122"/>
                <a:cs typeface="Poppins" pitchFamily="34" charset="-120"/>
              </a:rPr>
              <a:t>Estructura básica de una macro en VBA</a:t>
            </a:r>
            <a:endParaRPr lang="en-US" sz="1400" dirty="0"/>
          </a:p>
          <a:p>
            <a:pPr marL="342900" indent="-342900">
              <a:spcAft>
                <a:spcPts val="1000"/>
              </a:spcAft>
              <a:buSzPct val="100000"/>
              <a:buChar char="–"/>
            </a:pPr>
            <a:r>
              <a:rPr lang="en-US" sz="1400" dirty="0">
                <a:solidFill>
                  <a:srgbClr val="3C3D4A"/>
                </a:solidFill>
                <a:latin typeface="Poppins" pitchFamily="34" charset="0"/>
                <a:ea typeface="Poppins" pitchFamily="34" charset="-122"/>
                <a:cs typeface="Poppins" pitchFamily="34" charset="-120"/>
              </a:rPr>
              <a:t>Sentencias fundamentales en VBA</a:t>
            </a:r>
            <a:endParaRPr lang="en-US" sz="1400" dirty="0"/>
          </a:p>
          <a:p>
            <a:pPr marL="342900" indent="-342900">
              <a:spcAft>
                <a:spcPts val="1000"/>
              </a:spcAft>
              <a:buSzPct val="100000"/>
              <a:buChar char="–"/>
            </a:pPr>
            <a:r>
              <a:rPr lang="en-US" sz="1400" dirty="0">
                <a:solidFill>
                  <a:srgbClr val="3C3D4A"/>
                </a:solidFill>
                <a:latin typeface="Poppins" pitchFamily="34" charset="0"/>
                <a:ea typeface="Poppins" pitchFamily="34" charset="-122"/>
                <a:cs typeface="Poppins" pitchFamily="34" charset="-120"/>
              </a:rPr>
              <a:t>Manipulación de celdas y rangos</a:t>
            </a:r>
            <a:endParaRPr lang="en-US" sz="1400" dirty="0"/>
          </a:p>
        </p:txBody>
      </p:sp>
      <p:sp>
        <p:nvSpPr>
          <p:cNvPr id="6" name="Text 4"/>
          <p:cNvSpPr/>
          <p:nvPr/>
        </p:nvSpPr>
        <p:spPr>
          <a:xfrm>
            <a:off x="6126480" y="1737360"/>
            <a:ext cx="5120640" cy="42062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3C3D4A"/>
                </a:solidFill>
                <a:latin typeface="Poppins" pitchFamily="34" charset="0"/>
                <a:ea typeface="Poppins" pitchFamily="34" charset="-122"/>
                <a:cs typeface="Poppins" pitchFamily="34" charset="-120"/>
              </a:rPr>
              <a:t>Interacción con el usuario</a:t>
            </a:r>
            <a:endParaRPr lang="en-US" sz="1400" dirty="0"/>
          </a:p>
          <a:p>
            <a:pPr marL="342900" indent="-342900">
              <a:spcAft>
                <a:spcPts val="1000"/>
              </a:spcAft>
              <a:buSzPct val="100000"/>
              <a:buChar char="–"/>
            </a:pPr>
            <a:r>
              <a:rPr lang="en-US" sz="1400" dirty="0">
                <a:solidFill>
                  <a:srgbClr val="3C3D4A"/>
                </a:solidFill>
                <a:latin typeface="Poppins" pitchFamily="34" charset="0"/>
                <a:ea typeface="Poppins" pitchFamily="34" charset="-122"/>
                <a:cs typeface="Poppins" pitchFamily="34" charset="-120"/>
              </a:rPr>
              <a:t>Gestión de errores</a:t>
            </a:r>
            <a:endParaRPr lang="en-US" sz="1400" dirty="0"/>
          </a:p>
          <a:p>
            <a:pPr marL="342900" indent="-342900">
              <a:spcAft>
                <a:spcPts val="1000"/>
              </a:spcAft>
              <a:buSzPct val="100000"/>
              <a:buChar char="–"/>
            </a:pPr>
            <a:r>
              <a:rPr lang="en-US" sz="1400" dirty="0">
                <a:solidFill>
                  <a:srgbClr val="3C3D4A"/>
                </a:solidFill>
                <a:latin typeface="Poppins" pitchFamily="34" charset="0"/>
                <a:ea typeface="Poppins" pitchFamily="34" charset="-122"/>
                <a:cs typeface="Poppins" pitchFamily="34" charset="-120"/>
              </a:rPr>
              <a:t>Ejemplos prácticos de macros comunes</a:t>
            </a:r>
            <a:endParaRPr lang="en-US" sz="1400" dirty="0"/>
          </a:p>
          <a:p>
            <a:pPr marL="342900" indent="-342900">
              <a:spcAft>
                <a:spcPts val="1000"/>
              </a:spcAft>
              <a:buSzPct val="100000"/>
              <a:buChar char="–"/>
            </a:pPr>
            <a:r>
              <a:rPr lang="en-US" sz="1400" dirty="0">
                <a:solidFill>
                  <a:srgbClr val="3C3D4A"/>
                </a:solidFill>
                <a:latin typeface="Poppins" pitchFamily="34" charset="0"/>
                <a:ea typeface="Poppins" pitchFamily="34" charset="-122"/>
                <a:cs typeface="Poppins" pitchFamily="34" charset="-120"/>
              </a:rPr>
              <a:t>Buenas prácticas y recomendaciones</a:t>
            </a:r>
            <a:endParaRPr lang="en-US" sz="1400" dirty="0"/>
          </a:p>
          <a:p>
            <a:pPr marL="342900" indent="-342900">
              <a:spcAft>
                <a:spcPts val="1000"/>
              </a:spcAft>
              <a:buSzPct val="100000"/>
              <a:buChar char="–"/>
            </a:pPr>
            <a:r>
              <a:rPr lang="en-US" sz="1400" dirty="0">
                <a:solidFill>
                  <a:srgbClr val="3C3D4A"/>
                </a:solidFill>
                <a:latin typeface="Poppins" pitchFamily="34" charset="0"/>
                <a:ea typeface="Poppins" pitchFamily="34" charset="-122"/>
                <a:cs typeface="Poppins" pitchFamily="34" charset="-120"/>
              </a:rPr>
              <a:t>Recursos adicionales y referencias</a:t>
            </a:r>
            <a:endParaRPr lang="en-US" sz="1400" dirty="0"/>
          </a:p>
        </p:txBody>
      </p:sp>
      <p:sp>
        <p:nvSpPr>
          <p:cNvPr id="7" name="Text 5"/>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900" dirty="0">
                <a:solidFill>
                  <a:srgbClr val="6E7180"/>
                </a:solidFill>
                <a:latin typeface="Poppins" pitchFamily="34" charset="0"/>
                <a:ea typeface="Poppins" pitchFamily="34" charset="-122"/>
                <a:cs typeface="Poppin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3657600" cy="320040"/>
          </a:xfrm>
          <a:prstGeom prst="rect">
            <a:avLst/>
          </a:prstGeom>
          <a:noFill/>
          <a:ln/>
        </p:spPr>
        <p:txBody>
          <a:bodyPr wrap="square" lIns="0" tIns="0" rIns="0" bIns="0" rtlCol="0" anchor="ctr"/>
          <a:lstStyle/>
          <a:p>
            <a:pPr indent="0" marL="0">
              <a:buNone/>
            </a:pPr>
            <a:r>
              <a:rPr lang="en-US" sz="1200" b="1" spc="300" kern="0" dirty="0">
                <a:solidFill>
                  <a:srgbClr val="4F46E5"/>
                </a:solidFill>
                <a:latin typeface="Poppins" pitchFamily="34" charset="0"/>
                <a:ea typeface="Poppins" pitchFamily="34" charset="-122"/>
                <a:cs typeface="Poppins" pitchFamily="34" charset="-120"/>
              </a:rPr>
              <a:t>NÓVARIS</a:t>
            </a:r>
            <a:endParaRPr lang="en-US" sz="1200" dirty="0"/>
          </a:p>
        </p:txBody>
      </p:sp>
      <p:sp>
        <p:nvSpPr>
          <p:cNvPr id="3" name="Shape 1"/>
          <p:cNvSpPr/>
          <p:nvPr/>
        </p:nvSpPr>
        <p:spPr>
          <a:xfrm>
            <a:off x="548640" y="685800"/>
            <a:ext cx="11091672" cy="0"/>
          </a:xfrm>
          <a:prstGeom prst="line">
            <a:avLst/>
          </a:prstGeom>
          <a:noFill/>
          <a:ln w="15875">
            <a:solidFill>
              <a:srgbClr val="312E81"/>
            </a:solidFill>
            <a:prstDash val="solid"/>
          </a:ln>
        </p:spPr>
      </p:sp>
      <p:sp>
        <p:nvSpPr>
          <p:cNvPr id="4" name="Text 2"/>
          <p:cNvSpPr/>
          <p:nvPr/>
        </p:nvSpPr>
        <p:spPr>
          <a:xfrm>
            <a:off x="548640" y="822960"/>
            <a:ext cx="11091672" cy="640080"/>
          </a:xfrm>
          <a:prstGeom prst="rect">
            <a:avLst/>
          </a:prstGeom>
          <a:noFill/>
          <a:ln/>
        </p:spPr>
        <p:txBody>
          <a:bodyPr wrap="square" lIns="0" tIns="0" rIns="0" bIns="0" rtlCol="0" anchor="ctr"/>
          <a:lstStyle/>
          <a:p>
            <a:pPr indent="0" marL="0">
              <a:buNone/>
            </a:pPr>
            <a:r>
              <a:rPr lang="en-US" sz="2800" b="1" dirty="0">
                <a:solidFill>
                  <a:srgbClr val="191A23"/>
                </a:solidFill>
                <a:latin typeface="Lora" pitchFamily="34" charset="0"/>
                <a:ea typeface="Lora" pitchFamily="34" charset="-122"/>
                <a:cs typeface="Lora" pitchFamily="34" charset="-120"/>
              </a:rPr>
              <a:t>Introducción a las macros en Excel</a:t>
            </a:r>
            <a:endParaRPr lang="en-US" sz="2800" dirty="0"/>
          </a:p>
        </p:txBody>
      </p:sp>
      <p:sp>
        <p:nvSpPr>
          <p:cNvPr id="5" name="Text 3"/>
          <p:cNvSpPr/>
          <p:nvPr/>
        </p:nvSpPr>
        <p:spPr>
          <a:xfrm>
            <a:off x="548640" y="1600200"/>
            <a:ext cx="11091672" cy="365760"/>
          </a:xfrm>
          <a:prstGeom prst="rect">
            <a:avLst/>
          </a:prstGeom>
          <a:noFill/>
          <a:ln/>
        </p:spPr>
        <p:txBody>
          <a:bodyPr wrap="square" lIns="0" tIns="0" rIns="0" bIns="0" rtlCol="0" anchor="ctr"/>
          <a:lstStyle/>
          <a:p>
            <a:pPr indent="0" marL="0">
              <a:buNone/>
            </a:pPr>
            <a:r>
              <a:rPr lang="en-US" sz="1600" b="1" dirty="0">
                <a:solidFill>
                  <a:srgbClr val="4F46E5"/>
                </a:solidFill>
                <a:latin typeface="Poppins" pitchFamily="34" charset="0"/>
                <a:ea typeface="Poppins" pitchFamily="34" charset="-122"/>
                <a:cs typeface="Poppins" pitchFamily="34" charset="-120"/>
              </a:rPr>
              <a:t>Definición</a:t>
            </a:r>
            <a:endParaRPr lang="en-US" sz="1600" dirty="0"/>
          </a:p>
        </p:txBody>
      </p:sp>
      <p:sp>
        <p:nvSpPr>
          <p:cNvPr id="6" name="Shape 4"/>
          <p:cNvSpPr/>
          <p:nvPr/>
        </p:nvSpPr>
        <p:spPr>
          <a:xfrm>
            <a:off x="548640" y="2057400"/>
            <a:ext cx="54864" cy="3383280"/>
          </a:xfrm>
          <a:prstGeom prst="rect">
            <a:avLst/>
          </a:prstGeom>
          <a:solidFill>
            <a:srgbClr val="C26A22"/>
          </a:solidFill>
          <a:ln/>
        </p:spPr>
      </p:sp>
      <p:sp>
        <p:nvSpPr>
          <p:cNvPr id="7" name="Text 5"/>
          <p:cNvSpPr/>
          <p:nvPr/>
        </p:nvSpPr>
        <p:spPr>
          <a:xfrm>
            <a:off x="822960" y="2057400"/>
            <a:ext cx="6949440" cy="1920240"/>
          </a:xfrm>
          <a:prstGeom prst="rect">
            <a:avLst/>
          </a:prstGeom>
          <a:noFill/>
          <a:ln/>
        </p:spPr>
        <p:txBody>
          <a:bodyPr wrap="square" lIns="0" tIns="0" rIns="0" bIns="0" rtlCol="0" anchor="ctr"/>
          <a:lstStyle/>
          <a:p>
            <a:pPr indent="0" marL="0">
              <a:lnSpc>
                <a:spcPct val="125000"/>
              </a:lnSpc>
              <a:buNone/>
            </a:pPr>
            <a:r>
              <a:rPr lang="en-US" sz="1400" dirty="0">
                <a:solidFill>
                  <a:srgbClr val="3C3D4A"/>
                </a:solidFill>
                <a:latin typeface="Poppins" pitchFamily="34" charset="0"/>
                <a:ea typeface="Poppins" pitchFamily="34" charset="-122"/>
                <a:cs typeface="Poppins" pitchFamily="34" charset="-120"/>
              </a:rPr>
              <a:t>Una macro en Excel es una secuencia de instrucciones programadas que permiten automatizar tareas dentro de una hoja de cálculo. Estas instrucciones se escriben generalmente en el lenguaje de programación VBA (Visual Basic for Applications), integrado en las aplicaciones de Microsoft Office.</a:t>
            </a:r>
            <a:endParaRPr lang="en-US" sz="1400" dirty="0"/>
          </a:p>
        </p:txBody>
      </p:sp>
      <p:sp>
        <p:nvSpPr>
          <p:cNvPr id="8" name="Text 6"/>
          <p:cNvSpPr/>
          <p:nvPr/>
        </p:nvSpPr>
        <p:spPr>
          <a:xfrm>
            <a:off x="822960" y="3977640"/>
            <a:ext cx="6949440" cy="1463040"/>
          </a:xfrm>
          <a:prstGeom prst="rect">
            <a:avLst/>
          </a:prstGeom>
          <a:noFill/>
          <a:ln/>
        </p:spPr>
        <p:txBody>
          <a:bodyPr wrap="square" lIns="0" tIns="0" rIns="0" bIns="0" rtlCol="0" anchor="ctr"/>
          <a:lstStyle/>
          <a:p>
            <a:pPr indent="0" marL="0">
              <a:lnSpc>
                <a:spcPct val="125000"/>
              </a:lnSpc>
              <a:buNone/>
            </a:pPr>
            <a:r>
              <a:rPr lang="en-US" sz="1400" dirty="0">
                <a:solidFill>
                  <a:srgbClr val="3C3D4A"/>
                </a:solidFill>
                <a:latin typeface="Poppins" pitchFamily="34" charset="0"/>
                <a:ea typeface="Poppins" pitchFamily="34" charset="-122"/>
                <a:cs typeface="Poppins" pitchFamily="34" charset="-120"/>
              </a:rPr>
              <a:t>Gracias a las macros es posible ejecutar de forma automática procesos complejos o repetitivos, como el formateo de datos, la generación de informes o la manipulación de grandes volúmenes de información, con solo pulsar un botón.</a:t>
            </a:r>
            <a:endParaRPr lang="en-US" sz="1400" dirty="0"/>
          </a:p>
        </p:txBody>
      </p:sp>
      <p:sp>
        <p:nvSpPr>
          <p:cNvPr id="9" name="Shape 7"/>
          <p:cNvSpPr/>
          <p:nvPr/>
        </p:nvSpPr>
        <p:spPr>
          <a:xfrm>
            <a:off x="7635240" y="2057400"/>
            <a:ext cx="4023360" cy="3383280"/>
          </a:xfrm>
          <a:prstGeom prst="roundRect">
            <a:avLst>
              <a:gd name="adj" fmla="val 2162"/>
            </a:avLst>
          </a:prstGeom>
          <a:solidFill>
            <a:srgbClr val="FCF3E9"/>
          </a:solidFill>
          <a:ln/>
        </p:spPr>
      </p:sp>
      <p:sp>
        <p:nvSpPr>
          <p:cNvPr id="10" name="Text 8"/>
          <p:cNvSpPr/>
          <p:nvPr/>
        </p:nvSpPr>
        <p:spPr>
          <a:xfrm>
            <a:off x="7863840" y="2286000"/>
            <a:ext cx="3566160" cy="457200"/>
          </a:xfrm>
          <a:prstGeom prst="rect">
            <a:avLst/>
          </a:prstGeom>
          <a:noFill/>
          <a:ln/>
        </p:spPr>
        <p:txBody>
          <a:bodyPr wrap="square" lIns="0" tIns="0" rIns="0" bIns="0" rtlCol="0" anchor="ctr"/>
          <a:lstStyle/>
          <a:p>
            <a:pPr indent="0" marL="0">
              <a:buNone/>
            </a:pPr>
            <a:r>
              <a:rPr lang="en-US" sz="2000" b="1" dirty="0">
                <a:solidFill>
                  <a:srgbClr val="C26A22"/>
                </a:solidFill>
                <a:latin typeface="Lora" pitchFamily="34" charset="0"/>
                <a:ea typeface="Lora" pitchFamily="34" charset="-122"/>
                <a:cs typeface="Lora" pitchFamily="34" charset="-120"/>
              </a:rPr>
              <a:t>VBA</a:t>
            </a:r>
            <a:endParaRPr lang="en-US" sz="2000" dirty="0"/>
          </a:p>
        </p:txBody>
      </p:sp>
      <p:sp>
        <p:nvSpPr>
          <p:cNvPr id="11" name="Text 9"/>
          <p:cNvSpPr/>
          <p:nvPr/>
        </p:nvSpPr>
        <p:spPr>
          <a:xfrm>
            <a:off x="7863840" y="2834640"/>
            <a:ext cx="3566160" cy="2468880"/>
          </a:xfrm>
          <a:prstGeom prst="rect">
            <a:avLst/>
          </a:prstGeom>
          <a:noFill/>
          <a:ln/>
        </p:spPr>
        <p:txBody>
          <a:bodyPr wrap="square" lIns="0" tIns="0" rIns="0" bIns="0" rtlCol="0" anchor="ctr"/>
          <a:lstStyle/>
          <a:p>
            <a:pPr indent="0" marL="0">
              <a:lnSpc>
                <a:spcPct val="125000"/>
              </a:lnSpc>
              <a:buNone/>
            </a:pPr>
            <a:r>
              <a:rPr lang="en-US" sz="1300" dirty="0">
                <a:solidFill>
                  <a:srgbClr val="3C3D4A"/>
                </a:solidFill>
                <a:latin typeface="Poppins" pitchFamily="34" charset="0"/>
                <a:ea typeface="Poppins" pitchFamily="34" charset="-122"/>
                <a:cs typeface="Poppins" pitchFamily="34" charset="-120"/>
              </a:rPr>
              <a:t>Visual Basic for Applications: lenguaje que permite interactuar con las funcionalidades de Excel, manipular datos y controlar el entorno de manera flexible y eficiente.</a:t>
            </a:r>
            <a:endParaRPr lang="en-US" sz="1300" dirty="0"/>
          </a:p>
        </p:txBody>
      </p:sp>
      <p:sp>
        <p:nvSpPr>
          <p:cNvPr id="12" name="Text 10"/>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900" dirty="0">
                <a:solidFill>
                  <a:srgbClr val="6E7180"/>
                </a:solidFill>
                <a:latin typeface="Poppins" pitchFamily="34" charset="0"/>
                <a:ea typeface="Poppins" pitchFamily="34" charset="-122"/>
                <a:cs typeface="Poppin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3657600" cy="320040"/>
          </a:xfrm>
          <a:prstGeom prst="rect">
            <a:avLst/>
          </a:prstGeom>
          <a:noFill/>
          <a:ln/>
        </p:spPr>
        <p:txBody>
          <a:bodyPr wrap="square" lIns="0" tIns="0" rIns="0" bIns="0" rtlCol="0" anchor="ctr"/>
          <a:lstStyle/>
          <a:p>
            <a:pPr indent="0" marL="0">
              <a:buNone/>
            </a:pPr>
            <a:r>
              <a:rPr lang="en-US" sz="1200" b="1" spc="300" kern="0" dirty="0">
                <a:solidFill>
                  <a:srgbClr val="4F46E5"/>
                </a:solidFill>
                <a:latin typeface="Poppins" pitchFamily="34" charset="0"/>
                <a:ea typeface="Poppins" pitchFamily="34" charset="-122"/>
                <a:cs typeface="Poppins" pitchFamily="34" charset="-120"/>
              </a:rPr>
              <a:t>NÓVARIS</a:t>
            </a:r>
            <a:endParaRPr lang="en-US" sz="1200" dirty="0"/>
          </a:p>
        </p:txBody>
      </p:sp>
      <p:sp>
        <p:nvSpPr>
          <p:cNvPr id="3" name="Shape 1"/>
          <p:cNvSpPr/>
          <p:nvPr/>
        </p:nvSpPr>
        <p:spPr>
          <a:xfrm>
            <a:off x="548640" y="685800"/>
            <a:ext cx="11091672" cy="0"/>
          </a:xfrm>
          <a:prstGeom prst="line">
            <a:avLst/>
          </a:prstGeom>
          <a:noFill/>
          <a:ln w="15875">
            <a:solidFill>
              <a:srgbClr val="312E81"/>
            </a:solidFill>
            <a:prstDash val="solid"/>
          </a:ln>
        </p:spPr>
      </p:sp>
      <p:sp>
        <p:nvSpPr>
          <p:cNvPr id="4" name="Text 2"/>
          <p:cNvSpPr/>
          <p:nvPr/>
        </p:nvSpPr>
        <p:spPr>
          <a:xfrm>
            <a:off x="548640" y="822960"/>
            <a:ext cx="11091672" cy="640080"/>
          </a:xfrm>
          <a:prstGeom prst="rect">
            <a:avLst/>
          </a:prstGeom>
          <a:noFill/>
          <a:ln/>
        </p:spPr>
        <p:txBody>
          <a:bodyPr wrap="square" lIns="0" tIns="0" rIns="0" bIns="0" rtlCol="0" anchor="ctr"/>
          <a:lstStyle/>
          <a:p>
            <a:pPr indent="0" marL="0">
              <a:buNone/>
            </a:pPr>
            <a:r>
              <a:rPr lang="en-US" sz="2800" b="1" dirty="0">
                <a:solidFill>
                  <a:srgbClr val="191A23"/>
                </a:solidFill>
                <a:latin typeface="Lora" pitchFamily="34" charset="0"/>
                <a:ea typeface="Lora" pitchFamily="34" charset="-122"/>
                <a:cs typeface="Lora" pitchFamily="34" charset="-120"/>
              </a:rPr>
              <a:t>Utilidad y ventajas</a:t>
            </a:r>
            <a:endParaRPr lang="en-US" sz="2800" dirty="0"/>
          </a:p>
        </p:txBody>
      </p:sp>
      <p:sp>
        <p:nvSpPr>
          <p:cNvPr id="5" name="Shape 3"/>
          <p:cNvSpPr/>
          <p:nvPr/>
        </p:nvSpPr>
        <p:spPr>
          <a:xfrm>
            <a:off x="548640" y="1828800"/>
            <a:ext cx="5362956" cy="1645920"/>
          </a:xfrm>
          <a:prstGeom prst="roundRect">
            <a:avLst>
              <a:gd name="adj" fmla="val 4444"/>
            </a:avLst>
          </a:prstGeom>
          <a:solidFill>
            <a:srgbClr val="F1F1FB"/>
          </a:solidFill>
          <a:ln/>
        </p:spPr>
      </p:sp>
      <p:sp>
        <p:nvSpPr>
          <p:cNvPr id="6" name="Shape 4"/>
          <p:cNvSpPr/>
          <p:nvPr/>
        </p:nvSpPr>
        <p:spPr>
          <a:xfrm>
            <a:off x="822960" y="2103120"/>
            <a:ext cx="457200" cy="457200"/>
          </a:xfrm>
          <a:prstGeom prst="ellipse">
            <a:avLst/>
          </a:prstGeom>
          <a:solidFill>
            <a:srgbClr val="4F46E5"/>
          </a:solidFill>
          <a:ln/>
        </p:spPr>
      </p:sp>
      <p:sp>
        <p:nvSpPr>
          <p:cNvPr id="7" name="Text 5"/>
          <p:cNvSpPr/>
          <p:nvPr/>
        </p:nvSpPr>
        <p:spPr>
          <a:xfrm>
            <a:off x="822960" y="21031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oppins" pitchFamily="34" charset="0"/>
                <a:ea typeface="Poppins" pitchFamily="34" charset="-122"/>
                <a:cs typeface="Poppins" pitchFamily="34" charset="-120"/>
              </a:rPr>
              <a:t>A</a:t>
            </a:r>
            <a:endParaRPr lang="en-US" sz="1600" dirty="0"/>
          </a:p>
        </p:txBody>
      </p:sp>
      <p:sp>
        <p:nvSpPr>
          <p:cNvPr id="8" name="Text 6"/>
          <p:cNvSpPr/>
          <p:nvPr/>
        </p:nvSpPr>
        <p:spPr>
          <a:xfrm>
            <a:off x="1417320" y="2075688"/>
            <a:ext cx="4219956" cy="320040"/>
          </a:xfrm>
          <a:prstGeom prst="rect">
            <a:avLst/>
          </a:prstGeom>
          <a:noFill/>
          <a:ln/>
        </p:spPr>
        <p:txBody>
          <a:bodyPr wrap="square" lIns="0" tIns="0" rIns="0" bIns="0" rtlCol="0" anchor="ctr"/>
          <a:lstStyle/>
          <a:p>
            <a:pPr indent="0" marL="0">
              <a:buNone/>
            </a:pPr>
            <a:r>
              <a:rPr lang="en-US" sz="1500" b="1" dirty="0">
                <a:solidFill>
                  <a:srgbClr val="191A23"/>
                </a:solidFill>
                <a:latin typeface="Poppins" pitchFamily="34" charset="0"/>
                <a:ea typeface="Poppins" pitchFamily="34" charset="-122"/>
                <a:cs typeface="Poppins" pitchFamily="34" charset="-120"/>
              </a:rPr>
              <a:t>Automatización</a:t>
            </a:r>
            <a:endParaRPr lang="en-US" sz="1500" dirty="0"/>
          </a:p>
        </p:txBody>
      </p:sp>
      <p:sp>
        <p:nvSpPr>
          <p:cNvPr id="9" name="Text 7"/>
          <p:cNvSpPr/>
          <p:nvPr/>
        </p:nvSpPr>
        <p:spPr>
          <a:xfrm>
            <a:off x="1417320" y="2395728"/>
            <a:ext cx="4219956" cy="804672"/>
          </a:xfrm>
          <a:prstGeom prst="rect">
            <a:avLst/>
          </a:prstGeom>
          <a:noFill/>
          <a:ln/>
        </p:spPr>
        <p:txBody>
          <a:bodyPr wrap="square" lIns="0" tIns="0" rIns="0" bIns="0" rtlCol="0" anchor="ctr"/>
          <a:lstStyle/>
          <a:p>
            <a:pPr indent="0" marL="0">
              <a:buNone/>
            </a:pPr>
            <a:r>
              <a:rPr lang="en-US" sz="1200" dirty="0">
                <a:solidFill>
                  <a:srgbClr val="6E7180"/>
                </a:solidFill>
                <a:latin typeface="Poppins" pitchFamily="34" charset="0"/>
                <a:ea typeface="Poppins" pitchFamily="34" charset="-122"/>
                <a:cs typeface="Poppins" pitchFamily="34" charset="-120"/>
              </a:rPr>
              <a:t>Reduce el tiempo dedicado a tareas manuales.</a:t>
            </a:r>
            <a:endParaRPr lang="en-US" sz="1200" dirty="0"/>
          </a:p>
        </p:txBody>
      </p:sp>
      <p:sp>
        <p:nvSpPr>
          <p:cNvPr id="10" name="Shape 8"/>
          <p:cNvSpPr/>
          <p:nvPr/>
        </p:nvSpPr>
        <p:spPr>
          <a:xfrm>
            <a:off x="6277356" y="1828800"/>
            <a:ext cx="5362956" cy="1645920"/>
          </a:xfrm>
          <a:prstGeom prst="roundRect">
            <a:avLst>
              <a:gd name="adj" fmla="val 4444"/>
            </a:avLst>
          </a:prstGeom>
          <a:solidFill>
            <a:srgbClr val="F1F1FB"/>
          </a:solidFill>
          <a:ln/>
        </p:spPr>
      </p:sp>
      <p:sp>
        <p:nvSpPr>
          <p:cNvPr id="11" name="Shape 9"/>
          <p:cNvSpPr/>
          <p:nvPr/>
        </p:nvSpPr>
        <p:spPr>
          <a:xfrm>
            <a:off x="6551676" y="2103120"/>
            <a:ext cx="457200" cy="457200"/>
          </a:xfrm>
          <a:prstGeom prst="ellipse">
            <a:avLst/>
          </a:prstGeom>
          <a:solidFill>
            <a:srgbClr val="4F46E5"/>
          </a:solidFill>
          <a:ln/>
        </p:spPr>
      </p:sp>
      <p:sp>
        <p:nvSpPr>
          <p:cNvPr id="12" name="Text 10"/>
          <p:cNvSpPr/>
          <p:nvPr/>
        </p:nvSpPr>
        <p:spPr>
          <a:xfrm>
            <a:off x="6551676" y="21031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oppins" pitchFamily="34" charset="0"/>
                <a:ea typeface="Poppins" pitchFamily="34" charset="-122"/>
                <a:cs typeface="Poppins" pitchFamily="34" charset="-120"/>
              </a:rPr>
              <a:t>P</a:t>
            </a:r>
            <a:endParaRPr lang="en-US" sz="1600" dirty="0"/>
          </a:p>
        </p:txBody>
      </p:sp>
      <p:sp>
        <p:nvSpPr>
          <p:cNvPr id="13" name="Text 11"/>
          <p:cNvSpPr/>
          <p:nvPr/>
        </p:nvSpPr>
        <p:spPr>
          <a:xfrm>
            <a:off x="7146036" y="2075688"/>
            <a:ext cx="4219956" cy="320040"/>
          </a:xfrm>
          <a:prstGeom prst="rect">
            <a:avLst/>
          </a:prstGeom>
          <a:noFill/>
          <a:ln/>
        </p:spPr>
        <p:txBody>
          <a:bodyPr wrap="square" lIns="0" tIns="0" rIns="0" bIns="0" rtlCol="0" anchor="ctr"/>
          <a:lstStyle/>
          <a:p>
            <a:pPr indent="0" marL="0">
              <a:buNone/>
            </a:pPr>
            <a:r>
              <a:rPr lang="en-US" sz="1500" b="1" dirty="0">
                <a:solidFill>
                  <a:srgbClr val="191A23"/>
                </a:solidFill>
                <a:latin typeface="Poppins" pitchFamily="34" charset="0"/>
                <a:ea typeface="Poppins" pitchFamily="34" charset="-122"/>
                <a:cs typeface="Poppins" pitchFamily="34" charset="-120"/>
              </a:rPr>
              <a:t>Precisión</a:t>
            </a:r>
            <a:endParaRPr lang="en-US" sz="1500" dirty="0"/>
          </a:p>
        </p:txBody>
      </p:sp>
      <p:sp>
        <p:nvSpPr>
          <p:cNvPr id="14" name="Text 12"/>
          <p:cNvSpPr/>
          <p:nvPr/>
        </p:nvSpPr>
        <p:spPr>
          <a:xfrm>
            <a:off x="7146036" y="2395728"/>
            <a:ext cx="4219956" cy="804672"/>
          </a:xfrm>
          <a:prstGeom prst="rect">
            <a:avLst/>
          </a:prstGeom>
          <a:noFill/>
          <a:ln/>
        </p:spPr>
        <p:txBody>
          <a:bodyPr wrap="square" lIns="0" tIns="0" rIns="0" bIns="0" rtlCol="0" anchor="ctr"/>
          <a:lstStyle/>
          <a:p>
            <a:pPr indent="0" marL="0">
              <a:buNone/>
            </a:pPr>
            <a:r>
              <a:rPr lang="en-US" sz="1200" dirty="0">
                <a:solidFill>
                  <a:srgbClr val="6E7180"/>
                </a:solidFill>
                <a:latin typeface="Poppins" pitchFamily="34" charset="0"/>
                <a:ea typeface="Poppins" pitchFamily="34" charset="-122"/>
                <a:cs typeface="Poppins" pitchFamily="34" charset="-120"/>
              </a:rPr>
              <a:t>Minimiza errores humanos en procesos repetitivos.</a:t>
            </a:r>
            <a:endParaRPr lang="en-US" sz="1200" dirty="0"/>
          </a:p>
        </p:txBody>
      </p:sp>
      <p:sp>
        <p:nvSpPr>
          <p:cNvPr id="15" name="Shape 13"/>
          <p:cNvSpPr/>
          <p:nvPr/>
        </p:nvSpPr>
        <p:spPr>
          <a:xfrm>
            <a:off x="548640" y="3749040"/>
            <a:ext cx="5362956" cy="1645920"/>
          </a:xfrm>
          <a:prstGeom prst="roundRect">
            <a:avLst>
              <a:gd name="adj" fmla="val 4444"/>
            </a:avLst>
          </a:prstGeom>
          <a:solidFill>
            <a:srgbClr val="F1F1FB"/>
          </a:solidFill>
          <a:ln/>
        </p:spPr>
      </p:sp>
      <p:sp>
        <p:nvSpPr>
          <p:cNvPr id="16" name="Shape 14"/>
          <p:cNvSpPr/>
          <p:nvPr/>
        </p:nvSpPr>
        <p:spPr>
          <a:xfrm>
            <a:off x="822960" y="4023360"/>
            <a:ext cx="457200" cy="457200"/>
          </a:xfrm>
          <a:prstGeom prst="ellipse">
            <a:avLst/>
          </a:prstGeom>
          <a:solidFill>
            <a:srgbClr val="4F46E5"/>
          </a:solidFill>
          <a:ln/>
        </p:spPr>
      </p:sp>
      <p:sp>
        <p:nvSpPr>
          <p:cNvPr id="17" name="Text 15"/>
          <p:cNvSpPr/>
          <p:nvPr/>
        </p:nvSpPr>
        <p:spPr>
          <a:xfrm>
            <a:off x="822960" y="4023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oppins" pitchFamily="34" charset="0"/>
                <a:ea typeface="Poppins" pitchFamily="34" charset="-122"/>
                <a:cs typeface="Poppins" pitchFamily="34" charset="-120"/>
              </a:rPr>
              <a:t>C</a:t>
            </a:r>
            <a:endParaRPr lang="en-US" sz="1600" dirty="0"/>
          </a:p>
        </p:txBody>
      </p:sp>
      <p:sp>
        <p:nvSpPr>
          <p:cNvPr id="18" name="Text 16"/>
          <p:cNvSpPr/>
          <p:nvPr/>
        </p:nvSpPr>
        <p:spPr>
          <a:xfrm>
            <a:off x="1417320" y="3995928"/>
            <a:ext cx="4219956" cy="320040"/>
          </a:xfrm>
          <a:prstGeom prst="rect">
            <a:avLst/>
          </a:prstGeom>
          <a:noFill/>
          <a:ln/>
        </p:spPr>
        <p:txBody>
          <a:bodyPr wrap="square" lIns="0" tIns="0" rIns="0" bIns="0" rtlCol="0" anchor="ctr"/>
          <a:lstStyle/>
          <a:p>
            <a:pPr indent="0" marL="0">
              <a:buNone/>
            </a:pPr>
            <a:r>
              <a:rPr lang="en-US" sz="1500" b="1" dirty="0">
                <a:solidFill>
                  <a:srgbClr val="191A23"/>
                </a:solidFill>
                <a:latin typeface="Poppins" pitchFamily="34" charset="0"/>
                <a:ea typeface="Poppins" pitchFamily="34" charset="-122"/>
                <a:cs typeface="Poppins" pitchFamily="34" charset="-120"/>
              </a:rPr>
              <a:t>Personalización</a:t>
            </a:r>
            <a:endParaRPr lang="en-US" sz="1500" dirty="0"/>
          </a:p>
        </p:txBody>
      </p:sp>
      <p:sp>
        <p:nvSpPr>
          <p:cNvPr id="19" name="Text 17"/>
          <p:cNvSpPr/>
          <p:nvPr/>
        </p:nvSpPr>
        <p:spPr>
          <a:xfrm>
            <a:off x="1417320" y="4315968"/>
            <a:ext cx="4219956" cy="804672"/>
          </a:xfrm>
          <a:prstGeom prst="rect">
            <a:avLst/>
          </a:prstGeom>
          <a:noFill/>
          <a:ln/>
        </p:spPr>
        <p:txBody>
          <a:bodyPr wrap="square" lIns="0" tIns="0" rIns="0" bIns="0" rtlCol="0" anchor="ctr"/>
          <a:lstStyle/>
          <a:p>
            <a:pPr indent="0" marL="0">
              <a:buNone/>
            </a:pPr>
            <a:r>
              <a:rPr lang="en-US" sz="1200" dirty="0">
                <a:solidFill>
                  <a:srgbClr val="6E7180"/>
                </a:solidFill>
                <a:latin typeface="Poppins" pitchFamily="34" charset="0"/>
                <a:ea typeface="Poppins" pitchFamily="34" charset="-122"/>
                <a:cs typeface="Poppins" pitchFamily="34" charset="-120"/>
              </a:rPr>
              <a:t>Permite adaptar Excel a necesidades específicas.</a:t>
            </a:r>
            <a:endParaRPr lang="en-US" sz="1200" dirty="0"/>
          </a:p>
        </p:txBody>
      </p:sp>
      <p:sp>
        <p:nvSpPr>
          <p:cNvPr id="20" name="Shape 18"/>
          <p:cNvSpPr/>
          <p:nvPr/>
        </p:nvSpPr>
        <p:spPr>
          <a:xfrm>
            <a:off x="6277356" y="3749040"/>
            <a:ext cx="5362956" cy="1645920"/>
          </a:xfrm>
          <a:prstGeom prst="roundRect">
            <a:avLst>
              <a:gd name="adj" fmla="val 4444"/>
            </a:avLst>
          </a:prstGeom>
          <a:solidFill>
            <a:srgbClr val="F1F1FB"/>
          </a:solidFill>
          <a:ln/>
        </p:spPr>
      </p:sp>
      <p:sp>
        <p:nvSpPr>
          <p:cNvPr id="21" name="Shape 19"/>
          <p:cNvSpPr/>
          <p:nvPr/>
        </p:nvSpPr>
        <p:spPr>
          <a:xfrm>
            <a:off x="6551676" y="4023360"/>
            <a:ext cx="457200" cy="457200"/>
          </a:xfrm>
          <a:prstGeom prst="ellipse">
            <a:avLst/>
          </a:prstGeom>
          <a:solidFill>
            <a:srgbClr val="4F46E5"/>
          </a:solidFill>
          <a:ln/>
        </p:spPr>
      </p:sp>
      <p:sp>
        <p:nvSpPr>
          <p:cNvPr id="22" name="Text 20"/>
          <p:cNvSpPr/>
          <p:nvPr/>
        </p:nvSpPr>
        <p:spPr>
          <a:xfrm>
            <a:off x="6551676" y="4023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oppins" pitchFamily="34" charset="0"/>
                <a:ea typeface="Poppins" pitchFamily="34" charset="-122"/>
                <a:cs typeface="Poppins" pitchFamily="34" charset="-120"/>
              </a:rPr>
              <a:t>I</a:t>
            </a:r>
            <a:endParaRPr lang="en-US" sz="1600" dirty="0"/>
          </a:p>
        </p:txBody>
      </p:sp>
      <p:sp>
        <p:nvSpPr>
          <p:cNvPr id="23" name="Text 21"/>
          <p:cNvSpPr/>
          <p:nvPr/>
        </p:nvSpPr>
        <p:spPr>
          <a:xfrm>
            <a:off x="7146036" y="3995928"/>
            <a:ext cx="4219956" cy="320040"/>
          </a:xfrm>
          <a:prstGeom prst="rect">
            <a:avLst/>
          </a:prstGeom>
          <a:noFill/>
          <a:ln/>
        </p:spPr>
        <p:txBody>
          <a:bodyPr wrap="square" lIns="0" tIns="0" rIns="0" bIns="0" rtlCol="0" anchor="ctr"/>
          <a:lstStyle/>
          <a:p>
            <a:pPr indent="0" marL="0">
              <a:buNone/>
            </a:pPr>
            <a:r>
              <a:rPr lang="en-US" sz="1500" b="1" dirty="0">
                <a:solidFill>
                  <a:srgbClr val="191A23"/>
                </a:solidFill>
                <a:latin typeface="Poppins" pitchFamily="34" charset="0"/>
                <a:ea typeface="Poppins" pitchFamily="34" charset="-122"/>
                <a:cs typeface="Poppins" pitchFamily="34" charset="-120"/>
              </a:rPr>
              <a:t>Integración</a:t>
            </a:r>
            <a:endParaRPr lang="en-US" sz="1500" dirty="0"/>
          </a:p>
        </p:txBody>
      </p:sp>
      <p:sp>
        <p:nvSpPr>
          <p:cNvPr id="24" name="Text 22"/>
          <p:cNvSpPr/>
          <p:nvPr/>
        </p:nvSpPr>
        <p:spPr>
          <a:xfrm>
            <a:off x="7146036" y="4315968"/>
            <a:ext cx="4219956" cy="804672"/>
          </a:xfrm>
          <a:prstGeom prst="rect">
            <a:avLst/>
          </a:prstGeom>
          <a:noFill/>
          <a:ln/>
        </p:spPr>
        <p:txBody>
          <a:bodyPr wrap="square" lIns="0" tIns="0" rIns="0" bIns="0" rtlCol="0" anchor="ctr"/>
          <a:lstStyle/>
          <a:p>
            <a:pPr indent="0" marL="0">
              <a:buNone/>
            </a:pPr>
            <a:r>
              <a:rPr lang="en-US" sz="1200" dirty="0">
                <a:solidFill>
                  <a:srgbClr val="6E7180"/>
                </a:solidFill>
                <a:latin typeface="Poppins" pitchFamily="34" charset="0"/>
                <a:ea typeface="Poppins" pitchFamily="34" charset="-122"/>
                <a:cs typeface="Poppins" pitchFamily="34" charset="-120"/>
              </a:rPr>
              <a:t>Facilita la comunicación con otras aplicaciones de Microsoft Office.</a:t>
            </a:r>
            <a:endParaRPr lang="en-US" sz="1200" dirty="0"/>
          </a:p>
        </p:txBody>
      </p:sp>
      <p:sp>
        <p:nvSpPr>
          <p:cNvPr id="25" name="Text 23"/>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900" dirty="0">
                <a:solidFill>
                  <a:srgbClr val="6E7180"/>
                </a:solidFill>
                <a:latin typeface="Poppins" pitchFamily="34" charset="0"/>
                <a:ea typeface="Poppins" pitchFamily="34" charset="-122"/>
                <a:cs typeface="Poppin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3657600" cy="320040"/>
          </a:xfrm>
          <a:prstGeom prst="rect">
            <a:avLst/>
          </a:prstGeom>
          <a:noFill/>
          <a:ln/>
        </p:spPr>
        <p:txBody>
          <a:bodyPr wrap="square" lIns="0" tIns="0" rIns="0" bIns="0" rtlCol="0" anchor="ctr"/>
          <a:lstStyle/>
          <a:p>
            <a:pPr indent="0" marL="0">
              <a:buNone/>
            </a:pPr>
            <a:r>
              <a:rPr lang="en-US" sz="1200" b="1" spc="300" kern="0" dirty="0">
                <a:solidFill>
                  <a:srgbClr val="4F46E5"/>
                </a:solidFill>
                <a:latin typeface="Poppins" pitchFamily="34" charset="0"/>
                <a:ea typeface="Poppins" pitchFamily="34" charset="-122"/>
                <a:cs typeface="Poppins" pitchFamily="34" charset="-120"/>
              </a:rPr>
              <a:t>NÓVARIS</a:t>
            </a:r>
            <a:endParaRPr lang="en-US" sz="1200" dirty="0"/>
          </a:p>
        </p:txBody>
      </p:sp>
      <p:sp>
        <p:nvSpPr>
          <p:cNvPr id="3" name="Shape 1"/>
          <p:cNvSpPr/>
          <p:nvPr/>
        </p:nvSpPr>
        <p:spPr>
          <a:xfrm>
            <a:off x="548640" y="685800"/>
            <a:ext cx="11091672" cy="0"/>
          </a:xfrm>
          <a:prstGeom prst="line">
            <a:avLst/>
          </a:prstGeom>
          <a:noFill/>
          <a:ln w="15875">
            <a:solidFill>
              <a:srgbClr val="312E81"/>
            </a:solidFill>
            <a:prstDash val="solid"/>
          </a:ln>
        </p:spPr>
      </p:sp>
      <p:sp>
        <p:nvSpPr>
          <p:cNvPr id="4" name="Text 2"/>
          <p:cNvSpPr/>
          <p:nvPr/>
        </p:nvSpPr>
        <p:spPr>
          <a:xfrm>
            <a:off x="548640" y="822960"/>
            <a:ext cx="11091672" cy="640080"/>
          </a:xfrm>
          <a:prstGeom prst="rect">
            <a:avLst/>
          </a:prstGeom>
          <a:noFill/>
          <a:ln/>
        </p:spPr>
        <p:txBody>
          <a:bodyPr wrap="square" lIns="0" tIns="0" rIns="0" bIns="0" rtlCol="0" anchor="ctr"/>
          <a:lstStyle/>
          <a:p>
            <a:pPr indent="0" marL="0">
              <a:buNone/>
            </a:pPr>
            <a:r>
              <a:rPr lang="en-US" sz="2800" b="1" dirty="0">
                <a:solidFill>
                  <a:srgbClr val="191A23"/>
                </a:solidFill>
                <a:latin typeface="Lora" pitchFamily="34" charset="0"/>
                <a:ea typeface="Lora" pitchFamily="34" charset="-122"/>
                <a:cs typeface="Lora" pitchFamily="34" charset="-120"/>
              </a:rPr>
              <a:t>Configuración inicial</a:t>
            </a:r>
            <a:endParaRPr lang="en-US" sz="2800" dirty="0"/>
          </a:p>
        </p:txBody>
      </p:sp>
      <p:sp>
        <p:nvSpPr>
          <p:cNvPr id="5" name="Text 3"/>
          <p:cNvSpPr/>
          <p:nvPr/>
        </p:nvSpPr>
        <p:spPr>
          <a:xfrm>
            <a:off x="548640" y="1600200"/>
            <a:ext cx="11091672" cy="365760"/>
          </a:xfrm>
          <a:prstGeom prst="rect">
            <a:avLst/>
          </a:prstGeom>
          <a:noFill/>
          <a:ln/>
        </p:spPr>
        <p:txBody>
          <a:bodyPr wrap="square" lIns="0" tIns="0" rIns="0" bIns="0" rtlCol="0" anchor="ctr"/>
          <a:lstStyle/>
          <a:p>
            <a:pPr indent="0" marL="0">
              <a:buNone/>
            </a:pPr>
            <a:r>
              <a:rPr lang="en-US" sz="1600" b="1" dirty="0">
                <a:solidFill>
                  <a:srgbClr val="4F46E5"/>
                </a:solidFill>
                <a:latin typeface="Poppins" pitchFamily="34" charset="0"/>
                <a:ea typeface="Poppins" pitchFamily="34" charset="-122"/>
                <a:cs typeface="Poppins" pitchFamily="34" charset="-120"/>
              </a:rPr>
              <a:t>Habilitar macros y el Editor VBA</a:t>
            </a:r>
            <a:endParaRPr lang="en-US" sz="1600" dirty="0"/>
          </a:p>
        </p:txBody>
      </p:sp>
      <p:sp>
        <p:nvSpPr>
          <p:cNvPr id="6" name="Text 4"/>
          <p:cNvSpPr/>
          <p:nvPr/>
        </p:nvSpPr>
        <p:spPr>
          <a:xfrm>
            <a:off x="548640" y="2103120"/>
            <a:ext cx="11091672" cy="4023360"/>
          </a:xfrm>
          <a:prstGeom prst="rect">
            <a:avLst/>
          </a:prstGeom>
          <a:noFill/>
          <a:ln/>
        </p:spPr>
        <p:txBody>
          <a:bodyPr wrap="square" lIns="0" tIns="0" rIns="0" bIns="0" rtlCol="0" anchor="t"/>
          <a:lstStyle/>
          <a:p>
            <a:pPr marL="342900" indent="-342900">
              <a:lnSpc>
                <a:spcPct val="120000"/>
              </a:lnSpc>
              <a:spcAft>
                <a:spcPts val="1400"/>
              </a:spcAft>
              <a:buSzPct val="100000"/>
              <a:buFont typeface="+mj-lt"/>
              <a:buAutoNum type="arabicPeriod" startAt="1"/>
            </a:pPr>
            <a:r>
              <a:rPr lang="en-US" sz="1500" dirty="0">
                <a:solidFill>
                  <a:srgbClr val="3C3D4A"/>
                </a:solidFill>
                <a:latin typeface="Poppins" pitchFamily="34" charset="0"/>
                <a:ea typeface="Poppins" pitchFamily="34" charset="-122"/>
                <a:cs typeface="Poppins" pitchFamily="34" charset="-120"/>
              </a:rPr>
              <a:t>Desde Excel, accede a Archivo &gt; Opciones &gt; Centro de confianza &gt; Configuración del Centro de confianza &gt; Configuración de macros y selecciona “Habilitar todas las macros”.</a:t>
            </a:r>
            <a:endParaRPr lang="en-US" sz="1500" dirty="0"/>
          </a:p>
          <a:p>
            <a:pPr marL="342900" indent="-342900">
              <a:lnSpc>
                <a:spcPct val="120000"/>
              </a:lnSpc>
              <a:spcAft>
                <a:spcPts val="1400"/>
              </a:spcAft>
              <a:buSzPct val="100000"/>
              <a:buFont typeface="+mj-lt"/>
              <a:buAutoNum type="arabicPeriod" startAt="1"/>
            </a:pPr>
            <a:r>
              <a:rPr lang="en-US" sz="1500" dirty="0">
                <a:solidFill>
                  <a:srgbClr val="3C3D4A"/>
                </a:solidFill>
                <a:latin typeface="Poppins" pitchFamily="34" charset="0"/>
                <a:ea typeface="Poppins" pitchFamily="34" charset="-122"/>
                <a:cs typeface="Poppins" pitchFamily="34" charset="-120"/>
              </a:rPr>
              <a:t>Activa la ficha Desarrollador desde Archivo &gt; Opciones &gt; Personalizar cinta de opciones.</a:t>
            </a:r>
            <a:endParaRPr lang="en-US" sz="1500" dirty="0"/>
          </a:p>
          <a:p>
            <a:pPr marL="342900" indent="-342900">
              <a:lnSpc>
                <a:spcPct val="120000"/>
              </a:lnSpc>
              <a:spcAft>
                <a:spcPts val="1400"/>
              </a:spcAft>
              <a:buSzPct val="100000"/>
              <a:buFont typeface="+mj-lt"/>
              <a:buAutoNum type="arabicPeriod" startAt="1"/>
            </a:pPr>
            <a:r>
              <a:rPr lang="en-US" sz="1500" dirty="0">
                <a:solidFill>
                  <a:srgbClr val="3C3D4A"/>
                </a:solidFill>
                <a:latin typeface="Poppins" pitchFamily="34" charset="0"/>
                <a:ea typeface="Poppins" pitchFamily="34" charset="-122"/>
                <a:cs typeface="Poppins" pitchFamily="34" charset="-120"/>
              </a:rPr>
              <a:t>Abre el Editor de VBA con Alt + F11.</a:t>
            </a:r>
            <a:endParaRPr lang="en-US" sz="1500" dirty="0"/>
          </a:p>
          <a:p>
            <a:pPr marL="342900" indent="-342900">
              <a:lnSpc>
                <a:spcPct val="120000"/>
              </a:lnSpc>
              <a:spcAft>
                <a:spcPts val="1400"/>
              </a:spcAft>
              <a:buSzPct val="100000"/>
              <a:buFont typeface="+mj-lt"/>
              <a:buAutoNum type="arabicPeriod" startAt="1"/>
            </a:pPr>
            <a:r>
              <a:rPr lang="en-US" sz="1500" dirty="0">
                <a:solidFill>
                  <a:srgbClr val="3C3D4A"/>
                </a:solidFill>
                <a:latin typeface="Poppins" pitchFamily="34" charset="0"/>
                <a:ea typeface="Poppins" pitchFamily="34" charset="-122"/>
                <a:cs typeface="Poppins" pitchFamily="34" charset="-120"/>
              </a:rPr>
              <a:t>Es recomendable trabajar con archivos de tipo .xlsm para guardar macros.</a:t>
            </a:r>
            <a:endParaRPr lang="en-US" sz="1500" dirty="0"/>
          </a:p>
        </p:txBody>
      </p:sp>
      <p:sp>
        <p:nvSpPr>
          <p:cNvPr id="7" name="Text 5"/>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900" dirty="0">
                <a:solidFill>
                  <a:srgbClr val="6E7180"/>
                </a:solidFill>
                <a:latin typeface="Poppins" pitchFamily="34" charset="0"/>
                <a:ea typeface="Poppins" pitchFamily="34" charset="-122"/>
                <a:cs typeface="Poppin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3657600" cy="320040"/>
          </a:xfrm>
          <a:prstGeom prst="rect">
            <a:avLst/>
          </a:prstGeom>
          <a:noFill/>
          <a:ln/>
        </p:spPr>
        <p:txBody>
          <a:bodyPr wrap="square" lIns="0" tIns="0" rIns="0" bIns="0" rtlCol="0" anchor="ctr"/>
          <a:lstStyle/>
          <a:p>
            <a:pPr indent="0" marL="0">
              <a:buNone/>
            </a:pPr>
            <a:r>
              <a:rPr lang="en-US" sz="1200" b="1" spc="300" kern="0" dirty="0">
                <a:solidFill>
                  <a:srgbClr val="4F46E5"/>
                </a:solidFill>
                <a:latin typeface="Poppins" pitchFamily="34" charset="0"/>
                <a:ea typeface="Poppins" pitchFamily="34" charset="-122"/>
                <a:cs typeface="Poppins" pitchFamily="34" charset="-120"/>
              </a:rPr>
              <a:t>NÓVARIS</a:t>
            </a:r>
            <a:endParaRPr lang="en-US" sz="1200" dirty="0"/>
          </a:p>
        </p:txBody>
      </p:sp>
      <p:sp>
        <p:nvSpPr>
          <p:cNvPr id="3" name="Shape 1"/>
          <p:cNvSpPr/>
          <p:nvPr/>
        </p:nvSpPr>
        <p:spPr>
          <a:xfrm>
            <a:off x="548640" y="685800"/>
            <a:ext cx="11091672" cy="0"/>
          </a:xfrm>
          <a:prstGeom prst="line">
            <a:avLst/>
          </a:prstGeom>
          <a:noFill/>
          <a:ln w="15875">
            <a:solidFill>
              <a:srgbClr val="312E81"/>
            </a:solidFill>
            <a:prstDash val="solid"/>
          </a:ln>
        </p:spPr>
      </p:sp>
      <p:sp>
        <p:nvSpPr>
          <p:cNvPr id="4" name="Text 2"/>
          <p:cNvSpPr/>
          <p:nvPr/>
        </p:nvSpPr>
        <p:spPr>
          <a:xfrm>
            <a:off x="548640" y="822960"/>
            <a:ext cx="11091672" cy="640080"/>
          </a:xfrm>
          <a:prstGeom prst="rect">
            <a:avLst/>
          </a:prstGeom>
          <a:noFill/>
          <a:ln/>
        </p:spPr>
        <p:txBody>
          <a:bodyPr wrap="square" lIns="0" tIns="0" rIns="0" bIns="0" rtlCol="0" anchor="ctr"/>
          <a:lstStyle/>
          <a:p>
            <a:pPr indent="0" marL="0">
              <a:buNone/>
            </a:pPr>
            <a:r>
              <a:rPr lang="en-US" sz="2800" b="1" dirty="0">
                <a:solidFill>
                  <a:srgbClr val="191A23"/>
                </a:solidFill>
                <a:latin typeface="Lora" pitchFamily="34" charset="0"/>
                <a:ea typeface="Lora" pitchFamily="34" charset="-122"/>
                <a:cs typeface="Lora" pitchFamily="34" charset="-120"/>
              </a:rPr>
              <a:t>Estructura básica de una macro en VBA</a:t>
            </a:r>
            <a:endParaRPr lang="en-US" sz="2800" dirty="0"/>
          </a:p>
        </p:txBody>
      </p:sp>
      <p:sp>
        <p:nvSpPr>
          <p:cNvPr id="5" name="Text 3"/>
          <p:cNvSpPr/>
          <p:nvPr/>
        </p:nvSpPr>
        <p:spPr>
          <a:xfrm>
            <a:off x="548640" y="1600200"/>
            <a:ext cx="11091672" cy="365760"/>
          </a:xfrm>
          <a:prstGeom prst="rect">
            <a:avLst/>
          </a:prstGeom>
          <a:noFill/>
          <a:ln/>
        </p:spPr>
        <p:txBody>
          <a:bodyPr wrap="square" lIns="0" tIns="0" rIns="0" bIns="0" rtlCol="0" anchor="ctr"/>
          <a:lstStyle/>
          <a:p>
            <a:pPr indent="0" marL="0">
              <a:buNone/>
            </a:pPr>
            <a:r>
              <a:rPr lang="en-US" sz="1600" b="1" dirty="0">
                <a:solidFill>
                  <a:srgbClr val="4F46E5"/>
                </a:solidFill>
                <a:latin typeface="Poppins" pitchFamily="34" charset="0"/>
                <a:ea typeface="Poppins" pitchFamily="34" charset="-122"/>
                <a:cs typeface="Poppins" pitchFamily="34" charset="-120"/>
              </a:rPr>
              <a:t>Elementos fundamentales</a:t>
            </a:r>
            <a:endParaRPr lang="en-US" sz="1600" dirty="0"/>
          </a:p>
        </p:txBody>
      </p:sp>
      <p:sp>
        <p:nvSpPr>
          <p:cNvPr id="6" name="Text 4"/>
          <p:cNvSpPr/>
          <p:nvPr/>
        </p:nvSpPr>
        <p:spPr>
          <a:xfrm>
            <a:off x="548640" y="2057400"/>
            <a:ext cx="5394960" cy="39319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3C3D4A"/>
                </a:solidFill>
                <a:latin typeface="Poppins" pitchFamily="34" charset="0"/>
                <a:ea typeface="Poppins" pitchFamily="34" charset="-122"/>
                <a:cs typeface="Poppins" pitchFamily="34" charset="-120"/>
              </a:rPr>
              <a:t>Sub ... End Sub: define el inicio y el fin de una macro.</a:t>
            </a:r>
            <a:endParaRPr lang="en-US" sz="1400" dirty="0"/>
          </a:p>
          <a:p>
            <a:pPr marL="342900" indent="-342900">
              <a:spcAft>
                <a:spcPts val="1000"/>
              </a:spcAft>
              <a:buSzPct val="100000"/>
              <a:buChar char="–"/>
            </a:pPr>
            <a:r>
              <a:rPr lang="en-US" sz="1400" dirty="0">
                <a:solidFill>
                  <a:srgbClr val="3C3D4A"/>
                </a:solidFill>
                <a:latin typeface="Poppins" pitchFamily="34" charset="0"/>
                <a:ea typeface="Poppins" pitchFamily="34" charset="-122"/>
                <a:cs typeface="Poppins" pitchFamily="34" charset="-120"/>
              </a:rPr>
              <a:t>Sub: palabra clave que inicia la macro, seguida del nombre.</a:t>
            </a:r>
            <a:endParaRPr lang="en-US" sz="1400" dirty="0"/>
          </a:p>
          <a:p>
            <a:pPr marL="342900" indent="-342900">
              <a:spcAft>
                <a:spcPts val="1000"/>
              </a:spcAft>
              <a:buSzPct val="100000"/>
              <a:buChar char="–"/>
            </a:pPr>
            <a:r>
              <a:rPr lang="en-US" sz="1400" dirty="0">
                <a:solidFill>
                  <a:srgbClr val="3C3D4A"/>
                </a:solidFill>
                <a:latin typeface="Poppins" pitchFamily="34" charset="0"/>
                <a:ea typeface="Poppins" pitchFamily="34" charset="-122"/>
                <a:cs typeface="Poppins" pitchFamily="34" charset="-120"/>
              </a:rPr>
              <a:t>End Sub: marca el final de la macro.</a:t>
            </a:r>
            <a:endParaRPr lang="en-US" sz="1400" dirty="0"/>
          </a:p>
          <a:p>
            <a:pPr marL="342900" indent="-342900">
              <a:spcAft>
                <a:spcPts val="1000"/>
              </a:spcAft>
              <a:buSzPct val="100000"/>
              <a:buChar char="–"/>
            </a:pPr>
            <a:r>
              <a:rPr lang="en-US" sz="1400" dirty="0">
                <a:solidFill>
                  <a:srgbClr val="3C3D4A"/>
                </a:solidFill>
                <a:latin typeface="Poppins" pitchFamily="34" charset="0"/>
                <a:ea typeface="Poppins" pitchFamily="34" charset="-122"/>
                <a:cs typeface="Poppins" pitchFamily="34" charset="-120"/>
              </a:rPr>
              <a:t>Comentarios: se introducen con el apóstrofe (') y sirven para documentar el código.</a:t>
            </a:r>
            <a:endParaRPr lang="en-US" sz="1400" dirty="0"/>
          </a:p>
        </p:txBody>
      </p:sp>
      <p:sp>
        <p:nvSpPr>
          <p:cNvPr id="7" name="Shape 5"/>
          <p:cNvSpPr/>
          <p:nvPr/>
        </p:nvSpPr>
        <p:spPr>
          <a:xfrm>
            <a:off x="6583680" y="2057400"/>
            <a:ext cx="5074920" cy="2011680"/>
          </a:xfrm>
          <a:prstGeom prst="roundRect">
            <a:avLst>
              <a:gd name="adj" fmla="val 2727"/>
            </a:avLst>
          </a:prstGeom>
          <a:solidFill>
            <a:srgbClr val="312E81"/>
          </a:solidFill>
          <a:ln/>
        </p:spPr>
      </p:sp>
      <p:sp>
        <p:nvSpPr>
          <p:cNvPr id="8" name="Text 6"/>
          <p:cNvSpPr/>
          <p:nvPr/>
        </p:nvSpPr>
        <p:spPr>
          <a:xfrm>
            <a:off x="6812280" y="2221992"/>
            <a:ext cx="4617720" cy="168249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Sub Saludar()</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    MsgBox "¡Hola, mundo!"</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End Sub</a:t>
            </a:r>
            <a:endParaRPr lang="en-US" sz="1300" dirty="0"/>
          </a:p>
          <a:p>
            <a:pPr indent="0" marL="0">
              <a:lnSpc>
                <a:spcPct val="115000"/>
              </a:lnSpc>
              <a:buNone/>
            </a:pP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 Esto es un comentario</a:t>
            </a:r>
            <a:endParaRPr lang="en-US" sz="1300" dirty="0"/>
          </a:p>
        </p:txBody>
      </p:sp>
      <p:sp>
        <p:nvSpPr>
          <p:cNvPr id="9" name="Text 7"/>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900" dirty="0">
                <a:solidFill>
                  <a:srgbClr val="6E7180"/>
                </a:solidFill>
                <a:latin typeface="Poppins" pitchFamily="34" charset="0"/>
                <a:ea typeface="Poppins" pitchFamily="34" charset="-122"/>
                <a:cs typeface="Poppin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3657600" cy="320040"/>
          </a:xfrm>
          <a:prstGeom prst="rect">
            <a:avLst/>
          </a:prstGeom>
          <a:noFill/>
          <a:ln/>
        </p:spPr>
        <p:txBody>
          <a:bodyPr wrap="square" lIns="0" tIns="0" rIns="0" bIns="0" rtlCol="0" anchor="ctr"/>
          <a:lstStyle/>
          <a:p>
            <a:pPr indent="0" marL="0">
              <a:buNone/>
            </a:pPr>
            <a:r>
              <a:rPr lang="en-US" sz="1200" b="1" spc="300" kern="0" dirty="0">
                <a:solidFill>
                  <a:srgbClr val="4F46E5"/>
                </a:solidFill>
                <a:latin typeface="Poppins" pitchFamily="34" charset="0"/>
                <a:ea typeface="Poppins" pitchFamily="34" charset="-122"/>
                <a:cs typeface="Poppins" pitchFamily="34" charset="-120"/>
              </a:rPr>
              <a:t>NÓVARIS</a:t>
            </a:r>
            <a:endParaRPr lang="en-US" sz="1200" dirty="0"/>
          </a:p>
        </p:txBody>
      </p:sp>
      <p:sp>
        <p:nvSpPr>
          <p:cNvPr id="3" name="Shape 1"/>
          <p:cNvSpPr/>
          <p:nvPr/>
        </p:nvSpPr>
        <p:spPr>
          <a:xfrm>
            <a:off x="548640" y="685800"/>
            <a:ext cx="11091672" cy="0"/>
          </a:xfrm>
          <a:prstGeom prst="line">
            <a:avLst/>
          </a:prstGeom>
          <a:noFill/>
          <a:ln w="15875">
            <a:solidFill>
              <a:srgbClr val="312E81"/>
            </a:solidFill>
            <a:prstDash val="solid"/>
          </a:ln>
        </p:spPr>
      </p:sp>
      <p:sp>
        <p:nvSpPr>
          <p:cNvPr id="4" name="Text 2"/>
          <p:cNvSpPr/>
          <p:nvPr/>
        </p:nvSpPr>
        <p:spPr>
          <a:xfrm>
            <a:off x="548640" y="822960"/>
            <a:ext cx="11091672" cy="640080"/>
          </a:xfrm>
          <a:prstGeom prst="rect">
            <a:avLst/>
          </a:prstGeom>
          <a:noFill/>
          <a:ln/>
        </p:spPr>
        <p:txBody>
          <a:bodyPr wrap="square" lIns="0" tIns="0" rIns="0" bIns="0" rtlCol="0" anchor="ctr"/>
          <a:lstStyle/>
          <a:p>
            <a:pPr indent="0" marL="0">
              <a:buNone/>
            </a:pPr>
            <a:r>
              <a:rPr lang="en-US" sz="2800" b="1" dirty="0">
                <a:solidFill>
                  <a:srgbClr val="191A23"/>
                </a:solidFill>
                <a:latin typeface="Lora" pitchFamily="34" charset="0"/>
                <a:ea typeface="Lora" pitchFamily="34" charset="-122"/>
                <a:cs typeface="Lora" pitchFamily="34" charset="-120"/>
              </a:rPr>
              <a:t>Sentencias fundamentales en VBA (I)</a:t>
            </a:r>
            <a:endParaRPr lang="en-US" sz="2800" dirty="0"/>
          </a:p>
        </p:txBody>
      </p:sp>
      <p:sp>
        <p:nvSpPr>
          <p:cNvPr id="5" name="Text 3"/>
          <p:cNvSpPr/>
          <p:nvPr/>
        </p:nvSpPr>
        <p:spPr>
          <a:xfrm>
            <a:off x="548640" y="1600200"/>
            <a:ext cx="5852160" cy="320040"/>
          </a:xfrm>
          <a:prstGeom prst="rect">
            <a:avLst/>
          </a:prstGeom>
          <a:noFill/>
          <a:ln/>
        </p:spPr>
        <p:txBody>
          <a:bodyPr wrap="square" lIns="0" tIns="0" rIns="0" bIns="0" rtlCol="0" anchor="ctr"/>
          <a:lstStyle/>
          <a:p>
            <a:pPr indent="0" marL="0">
              <a:buNone/>
            </a:pPr>
            <a:r>
              <a:rPr lang="en-US" sz="1400" b="1" dirty="0">
                <a:solidFill>
                  <a:srgbClr val="191A23"/>
                </a:solidFill>
                <a:latin typeface="Poppins" pitchFamily="34" charset="0"/>
                <a:ea typeface="Poppins" pitchFamily="34" charset="-122"/>
                <a:cs typeface="Poppins" pitchFamily="34" charset="-120"/>
              </a:rPr>
              <a:t>Dim — declara variables</a:t>
            </a:r>
            <a:endParaRPr lang="en-US" sz="1400" dirty="0"/>
          </a:p>
        </p:txBody>
      </p:sp>
      <p:sp>
        <p:nvSpPr>
          <p:cNvPr id="6" name="Shape 4"/>
          <p:cNvSpPr/>
          <p:nvPr/>
        </p:nvSpPr>
        <p:spPr>
          <a:xfrm>
            <a:off x="548640" y="1965960"/>
            <a:ext cx="5852160" cy="822960"/>
          </a:xfrm>
          <a:prstGeom prst="roundRect">
            <a:avLst>
              <a:gd name="adj" fmla="val 6667"/>
            </a:avLst>
          </a:prstGeom>
          <a:solidFill>
            <a:srgbClr val="312E81"/>
          </a:solidFill>
          <a:ln/>
        </p:spPr>
      </p:sp>
      <p:sp>
        <p:nvSpPr>
          <p:cNvPr id="7" name="Text 5"/>
          <p:cNvSpPr/>
          <p:nvPr/>
        </p:nvSpPr>
        <p:spPr>
          <a:xfrm>
            <a:off x="777240" y="2130552"/>
            <a:ext cx="5394960" cy="49377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Dim contador As Integer</a:t>
            </a:r>
            <a:endParaRPr lang="en-US" sz="1300" dirty="0"/>
          </a:p>
        </p:txBody>
      </p:sp>
      <p:sp>
        <p:nvSpPr>
          <p:cNvPr id="8" name="Text 6"/>
          <p:cNvSpPr/>
          <p:nvPr/>
        </p:nvSpPr>
        <p:spPr>
          <a:xfrm>
            <a:off x="548640" y="2926080"/>
            <a:ext cx="5852160" cy="320040"/>
          </a:xfrm>
          <a:prstGeom prst="rect">
            <a:avLst/>
          </a:prstGeom>
          <a:noFill/>
          <a:ln/>
        </p:spPr>
        <p:txBody>
          <a:bodyPr wrap="square" lIns="0" tIns="0" rIns="0" bIns="0" rtlCol="0" anchor="ctr"/>
          <a:lstStyle/>
          <a:p>
            <a:pPr indent="0" marL="0">
              <a:buNone/>
            </a:pPr>
            <a:r>
              <a:rPr lang="en-US" sz="1400" b="1" dirty="0">
                <a:solidFill>
                  <a:srgbClr val="191A23"/>
                </a:solidFill>
                <a:latin typeface="Poppins" pitchFamily="34" charset="0"/>
                <a:ea typeface="Poppins" pitchFamily="34" charset="-122"/>
                <a:cs typeface="Poppins" pitchFamily="34" charset="-120"/>
              </a:rPr>
              <a:t>Set — asigna objetos a variables</a:t>
            </a:r>
            <a:endParaRPr lang="en-US" sz="1400" dirty="0"/>
          </a:p>
        </p:txBody>
      </p:sp>
      <p:sp>
        <p:nvSpPr>
          <p:cNvPr id="9" name="Shape 7"/>
          <p:cNvSpPr/>
          <p:nvPr/>
        </p:nvSpPr>
        <p:spPr>
          <a:xfrm>
            <a:off x="548640" y="3291840"/>
            <a:ext cx="5852160" cy="822960"/>
          </a:xfrm>
          <a:prstGeom prst="roundRect">
            <a:avLst>
              <a:gd name="adj" fmla="val 6667"/>
            </a:avLst>
          </a:prstGeom>
          <a:solidFill>
            <a:srgbClr val="312E81"/>
          </a:solidFill>
          <a:ln/>
        </p:spPr>
      </p:sp>
      <p:sp>
        <p:nvSpPr>
          <p:cNvPr id="10" name="Text 8"/>
          <p:cNvSpPr/>
          <p:nvPr/>
        </p:nvSpPr>
        <p:spPr>
          <a:xfrm>
            <a:off x="777240" y="3456432"/>
            <a:ext cx="5394960" cy="49377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Set rango = Range("A1:B2")</a:t>
            </a:r>
            <a:endParaRPr lang="en-US" sz="1300" dirty="0"/>
          </a:p>
        </p:txBody>
      </p:sp>
      <p:sp>
        <p:nvSpPr>
          <p:cNvPr id="11" name="Text 9"/>
          <p:cNvSpPr/>
          <p:nvPr/>
        </p:nvSpPr>
        <p:spPr>
          <a:xfrm>
            <a:off x="6583680" y="1600200"/>
            <a:ext cx="5577840" cy="320040"/>
          </a:xfrm>
          <a:prstGeom prst="rect">
            <a:avLst/>
          </a:prstGeom>
          <a:noFill/>
          <a:ln/>
        </p:spPr>
        <p:txBody>
          <a:bodyPr wrap="square" lIns="0" tIns="0" rIns="0" bIns="0" rtlCol="0" anchor="ctr"/>
          <a:lstStyle/>
          <a:p>
            <a:pPr indent="0" marL="0">
              <a:buNone/>
            </a:pPr>
            <a:r>
              <a:rPr lang="en-US" sz="1400" b="1" dirty="0">
                <a:solidFill>
                  <a:srgbClr val="191A23"/>
                </a:solidFill>
                <a:latin typeface="Poppins" pitchFamily="34" charset="0"/>
                <a:ea typeface="Poppins" pitchFamily="34" charset="-122"/>
                <a:cs typeface="Poppins" pitchFamily="34" charset="-120"/>
              </a:rPr>
              <a:t>If ... Then ... Else ... End If</a:t>
            </a:r>
            <a:endParaRPr lang="en-US" sz="1400" dirty="0"/>
          </a:p>
        </p:txBody>
      </p:sp>
      <p:sp>
        <p:nvSpPr>
          <p:cNvPr id="12" name="Shape 10"/>
          <p:cNvSpPr/>
          <p:nvPr/>
        </p:nvSpPr>
        <p:spPr>
          <a:xfrm>
            <a:off x="6583680" y="1965960"/>
            <a:ext cx="5577840" cy="2148840"/>
          </a:xfrm>
          <a:prstGeom prst="roundRect">
            <a:avLst>
              <a:gd name="adj" fmla="val 2553"/>
            </a:avLst>
          </a:prstGeom>
          <a:solidFill>
            <a:srgbClr val="312E81"/>
          </a:solidFill>
          <a:ln/>
        </p:spPr>
      </p:sp>
      <p:sp>
        <p:nvSpPr>
          <p:cNvPr id="13" name="Text 11"/>
          <p:cNvSpPr/>
          <p:nvPr/>
        </p:nvSpPr>
        <p:spPr>
          <a:xfrm>
            <a:off x="6812280" y="2130552"/>
            <a:ext cx="5120640" cy="181965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If valor &gt; 10 Then</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    MsgBox "Mayor que 10"</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Else</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    MsgBox "10 o menor"</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End If</a:t>
            </a:r>
            <a:endParaRPr lang="en-US" sz="1300" dirty="0"/>
          </a:p>
        </p:txBody>
      </p:sp>
      <p:sp>
        <p:nvSpPr>
          <p:cNvPr id="14" name="Text 12"/>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900" dirty="0">
                <a:solidFill>
                  <a:srgbClr val="6E7180"/>
                </a:solidFill>
                <a:latin typeface="Poppins" pitchFamily="34" charset="0"/>
                <a:ea typeface="Poppins" pitchFamily="34" charset="-122"/>
                <a:cs typeface="Poppin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3657600" cy="320040"/>
          </a:xfrm>
          <a:prstGeom prst="rect">
            <a:avLst/>
          </a:prstGeom>
          <a:noFill/>
          <a:ln/>
        </p:spPr>
        <p:txBody>
          <a:bodyPr wrap="square" lIns="0" tIns="0" rIns="0" bIns="0" rtlCol="0" anchor="ctr"/>
          <a:lstStyle/>
          <a:p>
            <a:pPr indent="0" marL="0">
              <a:buNone/>
            </a:pPr>
            <a:r>
              <a:rPr lang="en-US" sz="1200" b="1" spc="300" kern="0" dirty="0">
                <a:solidFill>
                  <a:srgbClr val="4F46E5"/>
                </a:solidFill>
                <a:latin typeface="Poppins" pitchFamily="34" charset="0"/>
                <a:ea typeface="Poppins" pitchFamily="34" charset="-122"/>
                <a:cs typeface="Poppins" pitchFamily="34" charset="-120"/>
              </a:rPr>
              <a:t>NÓVARIS</a:t>
            </a:r>
            <a:endParaRPr lang="en-US" sz="1200" dirty="0"/>
          </a:p>
        </p:txBody>
      </p:sp>
      <p:sp>
        <p:nvSpPr>
          <p:cNvPr id="3" name="Shape 1"/>
          <p:cNvSpPr/>
          <p:nvPr/>
        </p:nvSpPr>
        <p:spPr>
          <a:xfrm>
            <a:off x="548640" y="685800"/>
            <a:ext cx="11091672" cy="0"/>
          </a:xfrm>
          <a:prstGeom prst="line">
            <a:avLst/>
          </a:prstGeom>
          <a:noFill/>
          <a:ln w="15875">
            <a:solidFill>
              <a:srgbClr val="312E81"/>
            </a:solidFill>
            <a:prstDash val="solid"/>
          </a:ln>
        </p:spPr>
      </p:sp>
      <p:sp>
        <p:nvSpPr>
          <p:cNvPr id="4" name="Text 2"/>
          <p:cNvSpPr/>
          <p:nvPr/>
        </p:nvSpPr>
        <p:spPr>
          <a:xfrm>
            <a:off x="548640" y="822960"/>
            <a:ext cx="11091672" cy="640080"/>
          </a:xfrm>
          <a:prstGeom prst="rect">
            <a:avLst/>
          </a:prstGeom>
          <a:noFill/>
          <a:ln/>
        </p:spPr>
        <p:txBody>
          <a:bodyPr wrap="square" lIns="0" tIns="0" rIns="0" bIns="0" rtlCol="0" anchor="ctr"/>
          <a:lstStyle/>
          <a:p>
            <a:pPr indent="0" marL="0">
              <a:buNone/>
            </a:pPr>
            <a:r>
              <a:rPr lang="en-US" sz="2800" b="1" dirty="0">
                <a:solidFill>
                  <a:srgbClr val="191A23"/>
                </a:solidFill>
                <a:latin typeface="Lora" pitchFamily="34" charset="0"/>
                <a:ea typeface="Lora" pitchFamily="34" charset="-122"/>
                <a:cs typeface="Lora" pitchFamily="34" charset="-120"/>
              </a:rPr>
              <a:t>Sentencias fundamentales en VBA (II)</a:t>
            </a:r>
            <a:endParaRPr lang="en-US" sz="2800" dirty="0"/>
          </a:p>
        </p:txBody>
      </p:sp>
      <p:sp>
        <p:nvSpPr>
          <p:cNvPr id="5" name="Text 3"/>
          <p:cNvSpPr/>
          <p:nvPr/>
        </p:nvSpPr>
        <p:spPr>
          <a:xfrm>
            <a:off x="548640" y="1554480"/>
            <a:ext cx="5577840" cy="274320"/>
          </a:xfrm>
          <a:prstGeom prst="rect">
            <a:avLst/>
          </a:prstGeom>
          <a:noFill/>
          <a:ln/>
        </p:spPr>
        <p:txBody>
          <a:bodyPr wrap="square" lIns="0" tIns="0" rIns="0" bIns="0" rtlCol="0" anchor="ctr"/>
          <a:lstStyle/>
          <a:p>
            <a:pPr indent="0" marL="0">
              <a:buNone/>
            </a:pPr>
            <a:r>
              <a:rPr lang="en-US" sz="1300" b="1" dirty="0">
                <a:solidFill>
                  <a:srgbClr val="191A23"/>
                </a:solidFill>
                <a:latin typeface="Poppins" pitchFamily="34" charset="0"/>
                <a:ea typeface="Poppins" pitchFamily="34" charset="-122"/>
                <a:cs typeface="Poppins" pitchFamily="34" charset="-120"/>
              </a:rPr>
              <a:t>For ... Next — bucle con contador</a:t>
            </a:r>
            <a:endParaRPr lang="en-US" sz="1300" dirty="0"/>
          </a:p>
        </p:txBody>
      </p:sp>
      <p:sp>
        <p:nvSpPr>
          <p:cNvPr id="6" name="Shape 4"/>
          <p:cNvSpPr/>
          <p:nvPr/>
        </p:nvSpPr>
        <p:spPr>
          <a:xfrm>
            <a:off x="548640" y="1828800"/>
            <a:ext cx="5577840" cy="1143000"/>
          </a:xfrm>
          <a:prstGeom prst="roundRect">
            <a:avLst>
              <a:gd name="adj" fmla="val 4800"/>
            </a:avLst>
          </a:prstGeom>
          <a:solidFill>
            <a:srgbClr val="312E81"/>
          </a:solidFill>
          <a:ln/>
        </p:spPr>
      </p:sp>
      <p:sp>
        <p:nvSpPr>
          <p:cNvPr id="7" name="Text 5"/>
          <p:cNvSpPr/>
          <p:nvPr/>
        </p:nvSpPr>
        <p:spPr>
          <a:xfrm>
            <a:off x="777240" y="1993392"/>
            <a:ext cx="5120640" cy="81381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For i = 1 To 5</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    Cells(i, 1).Value = i</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Next i</a:t>
            </a:r>
            <a:endParaRPr lang="en-US" sz="1300" dirty="0"/>
          </a:p>
        </p:txBody>
      </p:sp>
      <p:sp>
        <p:nvSpPr>
          <p:cNvPr id="8" name="Text 6"/>
          <p:cNvSpPr/>
          <p:nvPr/>
        </p:nvSpPr>
        <p:spPr>
          <a:xfrm>
            <a:off x="548640" y="3108960"/>
            <a:ext cx="5577840" cy="274320"/>
          </a:xfrm>
          <a:prstGeom prst="rect">
            <a:avLst/>
          </a:prstGeom>
          <a:noFill/>
          <a:ln/>
        </p:spPr>
        <p:txBody>
          <a:bodyPr wrap="square" lIns="0" tIns="0" rIns="0" bIns="0" rtlCol="0" anchor="ctr"/>
          <a:lstStyle/>
          <a:p>
            <a:pPr indent="0" marL="0">
              <a:buNone/>
            </a:pPr>
            <a:r>
              <a:rPr lang="en-US" sz="1300" b="1" dirty="0">
                <a:solidFill>
                  <a:srgbClr val="191A23"/>
                </a:solidFill>
                <a:latin typeface="Poppins" pitchFamily="34" charset="0"/>
                <a:ea typeface="Poppins" pitchFamily="34" charset="-122"/>
                <a:cs typeface="Poppins" pitchFamily="34" charset="-120"/>
              </a:rPr>
              <a:t>Do While ... Loop — bucle condicional</a:t>
            </a:r>
            <a:endParaRPr lang="en-US" sz="1300" dirty="0"/>
          </a:p>
        </p:txBody>
      </p:sp>
      <p:sp>
        <p:nvSpPr>
          <p:cNvPr id="9" name="Shape 7"/>
          <p:cNvSpPr/>
          <p:nvPr/>
        </p:nvSpPr>
        <p:spPr>
          <a:xfrm>
            <a:off x="548640" y="3383280"/>
            <a:ext cx="5577840" cy="1143000"/>
          </a:xfrm>
          <a:prstGeom prst="roundRect">
            <a:avLst>
              <a:gd name="adj" fmla="val 4800"/>
            </a:avLst>
          </a:prstGeom>
          <a:solidFill>
            <a:srgbClr val="312E81"/>
          </a:solidFill>
          <a:ln/>
        </p:spPr>
      </p:sp>
      <p:sp>
        <p:nvSpPr>
          <p:cNvPr id="10" name="Text 8"/>
          <p:cNvSpPr/>
          <p:nvPr/>
        </p:nvSpPr>
        <p:spPr>
          <a:xfrm>
            <a:off x="777240" y="3547872"/>
            <a:ext cx="5120640" cy="81381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Do While Cells(fila, 1).Value &lt;&gt; ""</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    fila = fila + 1</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Loop</a:t>
            </a:r>
            <a:endParaRPr lang="en-US" sz="1300" dirty="0"/>
          </a:p>
        </p:txBody>
      </p:sp>
      <p:sp>
        <p:nvSpPr>
          <p:cNvPr id="11" name="Text 9"/>
          <p:cNvSpPr/>
          <p:nvPr/>
        </p:nvSpPr>
        <p:spPr>
          <a:xfrm>
            <a:off x="6446520" y="1554480"/>
            <a:ext cx="5212080" cy="274320"/>
          </a:xfrm>
          <a:prstGeom prst="rect">
            <a:avLst/>
          </a:prstGeom>
          <a:noFill/>
          <a:ln/>
        </p:spPr>
        <p:txBody>
          <a:bodyPr wrap="square" lIns="0" tIns="0" rIns="0" bIns="0" rtlCol="0" anchor="ctr"/>
          <a:lstStyle/>
          <a:p>
            <a:pPr indent="0" marL="0">
              <a:buNone/>
            </a:pPr>
            <a:r>
              <a:rPr lang="en-US" sz="1300" b="1" dirty="0">
                <a:solidFill>
                  <a:srgbClr val="191A23"/>
                </a:solidFill>
                <a:latin typeface="Poppins" pitchFamily="34" charset="0"/>
                <a:ea typeface="Poppins" pitchFamily="34" charset="-122"/>
                <a:cs typeface="Poppins" pitchFamily="34" charset="-120"/>
              </a:rPr>
              <a:t>Select Case ... End Select</a:t>
            </a:r>
            <a:endParaRPr lang="en-US" sz="1300" dirty="0"/>
          </a:p>
        </p:txBody>
      </p:sp>
      <p:sp>
        <p:nvSpPr>
          <p:cNvPr id="12" name="Shape 10"/>
          <p:cNvSpPr/>
          <p:nvPr/>
        </p:nvSpPr>
        <p:spPr>
          <a:xfrm>
            <a:off x="6446520" y="1828800"/>
            <a:ext cx="5212080" cy="1371600"/>
          </a:xfrm>
          <a:prstGeom prst="roundRect">
            <a:avLst>
              <a:gd name="adj" fmla="val 4000"/>
            </a:avLst>
          </a:prstGeom>
          <a:solidFill>
            <a:srgbClr val="312E81"/>
          </a:solidFill>
          <a:ln/>
        </p:spPr>
      </p:sp>
      <p:sp>
        <p:nvSpPr>
          <p:cNvPr id="13" name="Text 11"/>
          <p:cNvSpPr/>
          <p:nvPr/>
        </p:nvSpPr>
        <p:spPr>
          <a:xfrm>
            <a:off x="6675120" y="1993392"/>
            <a:ext cx="4754880" cy="104241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Select Case opcion</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    Case 1: MsgBox "Uno"</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    Case 2: MsgBox "Dos"</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End Select</a:t>
            </a:r>
            <a:endParaRPr lang="en-US" sz="1300" dirty="0"/>
          </a:p>
        </p:txBody>
      </p:sp>
      <p:sp>
        <p:nvSpPr>
          <p:cNvPr id="14" name="Text 12"/>
          <p:cNvSpPr/>
          <p:nvPr/>
        </p:nvSpPr>
        <p:spPr>
          <a:xfrm>
            <a:off x="6446520" y="3429000"/>
            <a:ext cx="5212080" cy="274320"/>
          </a:xfrm>
          <a:prstGeom prst="rect">
            <a:avLst/>
          </a:prstGeom>
          <a:noFill/>
          <a:ln/>
        </p:spPr>
        <p:txBody>
          <a:bodyPr wrap="square" lIns="0" tIns="0" rIns="0" bIns="0" rtlCol="0" anchor="ctr"/>
          <a:lstStyle/>
          <a:p>
            <a:pPr indent="0" marL="0">
              <a:buNone/>
            </a:pPr>
            <a:r>
              <a:rPr lang="en-US" sz="1300" b="1" dirty="0">
                <a:solidFill>
                  <a:srgbClr val="191A23"/>
                </a:solidFill>
                <a:latin typeface="Poppins" pitchFamily="34" charset="0"/>
                <a:ea typeface="Poppins" pitchFamily="34" charset="-122"/>
                <a:cs typeface="Poppins" pitchFamily="34" charset="-120"/>
              </a:rPr>
              <a:t>With ... End With</a:t>
            </a:r>
            <a:endParaRPr lang="en-US" sz="1300" dirty="0"/>
          </a:p>
        </p:txBody>
      </p:sp>
      <p:sp>
        <p:nvSpPr>
          <p:cNvPr id="15" name="Shape 13"/>
          <p:cNvSpPr/>
          <p:nvPr/>
        </p:nvSpPr>
        <p:spPr>
          <a:xfrm>
            <a:off x="6446520" y="3703320"/>
            <a:ext cx="5212080" cy="1371600"/>
          </a:xfrm>
          <a:prstGeom prst="roundRect">
            <a:avLst>
              <a:gd name="adj" fmla="val 4000"/>
            </a:avLst>
          </a:prstGeom>
          <a:solidFill>
            <a:srgbClr val="312E81"/>
          </a:solidFill>
          <a:ln/>
        </p:spPr>
      </p:sp>
      <p:sp>
        <p:nvSpPr>
          <p:cNvPr id="16" name="Text 14"/>
          <p:cNvSpPr/>
          <p:nvPr/>
        </p:nvSpPr>
        <p:spPr>
          <a:xfrm>
            <a:off x="6675120" y="3867912"/>
            <a:ext cx="4754880" cy="104241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With Range("A1")</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    .Value = "Texto"</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    .Font.Bold = True</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End With</a:t>
            </a:r>
            <a:endParaRPr lang="en-US" sz="1300" dirty="0"/>
          </a:p>
        </p:txBody>
      </p:sp>
      <p:sp>
        <p:nvSpPr>
          <p:cNvPr id="17" name="Text 15"/>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900" dirty="0">
                <a:solidFill>
                  <a:srgbClr val="6E7180"/>
                </a:solidFill>
                <a:latin typeface="Poppins" pitchFamily="34" charset="0"/>
                <a:ea typeface="Poppins" pitchFamily="34" charset="-122"/>
                <a:cs typeface="Poppin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3657600" cy="320040"/>
          </a:xfrm>
          <a:prstGeom prst="rect">
            <a:avLst/>
          </a:prstGeom>
          <a:noFill/>
          <a:ln/>
        </p:spPr>
        <p:txBody>
          <a:bodyPr wrap="square" lIns="0" tIns="0" rIns="0" bIns="0" rtlCol="0" anchor="ctr"/>
          <a:lstStyle/>
          <a:p>
            <a:pPr indent="0" marL="0">
              <a:buNone/>
            </a:pPr>
            <a:r>
              <a:rPr lang="en-US" sz="1200" b="1" spc="300" kern="0" dirty="0">
                <a:solidFill>
                  <a:srgbClr val="4F46E5"/>
                </a:solidFill>
                <a:latin typeface="Poppins" pitchFamily="34" charset="0"/>
                <a:ea typeface="Poppins" pitchFamily="34" charset="-122"/>
                <a:cs typeface="Poppins" pitchFamily="34" charset="-120"/>
              </a:rPr>
              <a:t>NÓVARIS</a:t>
            </a:r>
            <a:endParaRPr lang="en-US" sz="1200" dirty="0"/>
          </a:p>
        </p:txBody>
      </p:sp>
      <p:sp>
        <p:nvSpPr>
          <p:cNvPr id="3" name="Shape 1"/>
          <p:cNvSpPr/>
          <p:nvPr/>
        </p:nvSpPr>
        <p:spPr>
          <a:xfrm>
            <a:off x="548640" y="685800"/>
            <a:ext cx="11091672" cy="0"/>
          </a:xfrm>
          <a:prstGeom prst="line">
            <a:avLst/>
          </a:prstGeom>
          <a:noFill/>
          <a:ln w="15875">
            <a:solidFill>
              <a:srgbClr val="312E81"/>
            </a:solidFill>
            <a:prstDash val="solid"/>
          </a:ln>
        </p:spPr>
      </p:sp>
      <p:sp>
        <p:nvSpPr>
          <p:cNvPr id="4" name="Text 2"/>
          <p:cNvSpPr/>
          <p:nvPr/>
        </p:nvSpPr>
        <p:spPr>
          <a:xfrm>
            <a:off x="548640" y="822960"/>
            <a:ext cx="11091672" cy="640080"/>
          </a:xfrm>
          <a:prstGeom prst="rect">
            <a:avLst/>
          </a:prstGeom>
          <a:noFill/>
          <a:ln/>
        </p:spPr>
        <p:txBody>
          <a:bodyPr wrap="square" lIns="0" tIns="0" rIns="0" bIns="0" rtlCol="0" anchor="ctr"/>
          <a:lstStyle/>
          <a:p>
            <a:pPr indent="0" marL="0">
              <a:buNone/>
            </a:pPr>
            <a:r>
              <a:rPr lang="en-US" sz="2800" b="1" dirty="0">
                <a:solidFill>
                  <a:srgbClr val="191A23"/>
                </a:solidFill>
                <a:latin typeface="Lora" pitchFamily="34" charset="0"/>
                <a:ea typeface="Lora" pitchFamily="34" charset="-122"/>
                <a:cs typeface="Lora" pitchFamily="34" charset="-120"/>
              </a:rPr>
              <a:t>Manipulación de celdas y rangos</a:t>
            </a:r>
            <a:endParaRPr lang="en-US" sz="2800" dirty="0"/>
          </a:p>
        </p:txBody>
      </p:sp>
      <p:sp>
        <p:nvSpPr>
          <p:cNvPr id="5" name="Text 3"/>
          <p:cNvSpPr/>
          <p:nvPr/>
        </p:nvSpPr>
        <p:spPr>
          <a:xfrm>
            <a:off x="548640" y="1600200"/>
            <a:ext cx="11091672" cy="365760"/>
          </a:xfrm>
          <a:prstGeom prst="rect">
            <a:avLst/>
          </a:prstGeom>
          <a:noFill/>
          <a:ln/>
        </p:spPr>
        <p:txBody>
          <a:bodyPr wrap="square" lIns="0" tIns="0" rIns="0" bIns="0" rtlCol="0" anchor="ctr"/>
          <a:lstStyle/>
          <a:p>
            <a:pPr indent="0" marL="0">
              <a:buNone/>
            </a:pPr>
            <a:r>
              <a:rPr lang="en-US" sz="1600" b="1" dirty="0">
                <a:solidFill>
                  <a:srgbClr val="4F46E5"/>
                </a:solidFill>
                <a:latin typeface="Poppins" pitchFamily="34" charset="0"/>
                <a:ea typeface="Poppins" pitchFamily="34" charset="-122"/>
                <a:cs typeface="Poppins" pitchFamily="34" charset="-120"/>
              </a:rPr>
              <a:t>Principales objetos y métodos</a:t>
            </a:r>
            <a:endParaRPr lang="en-US" sz="1600" dirty="0"/>
          </a:p>
        </p:txBody>
      </p:sp>
      <p:sp>
        <p:nvSpPr>
          <p:cNvPr id="6" name="Text 4"/>
          <p:cNvSpPr/>
          <p:nvPr/>
        </p:nvSpPr>
        <p:spPr>
          <a:xfrm>
            <a:off x="548640" y="2103120"/>
            <a:ext cx="1828800" cy="1188720"/>
          </a:xfrm>
          <a:prstGeom prst="rect">
            <a:avLst/>
          </a:prstGeom>
          <a:noFill/>
          <a:ln/>
        </p:spPr>
        <p:txBody>
          <a:bodyPr wrap="square" lIns="0" tIns="0" rIns="0" bIns="0" rtlCol="0" anchor="ctr"/>
          <a:lstStyle/>
          <a:p>
            <a:pPr indent="0" marL="0">
              <a:buNone/>
            </a:pPr>
            <a:r>
              <a:rPr lang="en-US" sz="1500" b="1" dirty="0">
                <a:solidFill>
                  <a:srgbClr val="191A23"/>
                </a:solidFill>
                <a:latin typeface="Poppins" pitchFamily="34" charset="0"/>
                <a:ea typeface="Poppins" pitchFamily="34" charset="-122"/>
                <a:cs typeface="Poppins" pitchFamily="34" charset="-120"/>
              </a:rPr>
              <a:t>Range</a:t>
            </a:r>
            <a:endParaRPr lang="en-US" sz="1500" dirty="0"/>
          </a:p>
        </p:txBody>
      </p:sp>
      <p:sp>
        <p:nvSpPr>
          <p:cNvPr id="7" name="Text 5"/>
          <p:cNvSpPr/>
          <p:nvPr/>
        </p:nvSpPr>
        <p:spPr>
          <a:xfrm>
            <a:off x="2468880" y="2103120"/>
            <a:ext cx="3566160" cy="1188720"/>
          </a:xfrm>
          <a:prstGeom prst="rect">
            <a:avLst/>
          </a:prstGeom>
          <a:noFill/>
          <a:ln/>
        </p:spPr>
        <p:txBody>
          <a:bodyPr wrap="square" lIns="0" tIns="0" rIns="0" bIns="0" rtlCol="0" anchor="t"/>
          <a:lstStyle/>
          <a:p>
            <a:pPr indent="0" marL="0">
              <a:buNone/>
            </a:pPr>
            <a:r>
              <a:rPr lang="en-US" sz="1300" dirty="0">
                <a:solidFill>
                  <a:srgbClr val="6E7180"/>
                </a:solidFill>
                <a:latin typeface="Poppins" pitchFamily="34" charset="0"/>
                <a:ea typeface="Poppins" pitchFamily="34" charset="-122"/>
                <a:cs typeface="Poppins" pitchFamily="34" charset="-120"/>
              </a:rPr>
              <a:t>Permite trabajar con rangos de celdas.</a:t>
            </a:r>
            <a:endParaRPr lang="en-US" sz="1300" dirty="0"/>
          </a:p>
        </p:txBody>
      </p:sp>
      <p:sp>
        <p:nvSpPr>
          <p:cNvPr id="8" name="Shape 6"/>
          <p:cNvSpPr/>
          <p:nvPr/>
        </p:nvSpPr>
        <p:spPr>
          <a:xfrm>
            <a:off x="6583680" y="2148840"/>
            <a:ext cx="5074920" cy="777240"/>
          </a:xfrm>
          <a:prstGeom prst="roundRect">
            <a:avLst>
              <a:gd name="adj" fmla="val 7059"/>
            </a:avLst>
          </a:prstGeom>
          <a:solidFill>
            <a:srgbClr val="312E81"/>
          </a:solidFill>
          <a:ln/>
        </p:spPr>
      </p:sp>
      <p:sp>
        <p:nvSpPr>
          <p:cNvPr id="9" name="Text 7"/>
          <p:cNvSpPr/>
          <p:nvPr/>
        </p:nvSpPr>
        <p:spPr>
          <a:xfrm>
            <a:off x="6812280" y="2313432"/>
            <a:ext cx="4617720" cy="44805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Range("B2").Value = 100</a:t>
            </a:r>
            <a:endParaRPr lang="en-US" sz="1300" dirty="0"/>
          </a:p>
        </p:txBody>
      </p:sp>
      <p:sp>
        <p:nvSpPr>
          <p:cNvPr id="10" name="Text 8"/>
          <p:cNvSpPr/>
          <p:nvPr/>
        </p:nvSpPr>
        <p:spPr>
          <a:xfrm>
            <a:off x="548640" y="3520440"/>
            <a:ext cx="1828800" cy="1188720"/>
          </a:xfrm>
          <a:prstGeom prst="rect">
            <a:avLst/>
          </a:prstGeom>
          <a:noFill/>
          <a:ln/>
        </p:spPr>
        <p:txBody>
          <a:bodyPr wrap="square" lIns="0" tIns="0" rIns="0" bIns="0" rtlCol="0" anchor="ctr"/>
          <a:lstStyle/>
          <a:p>
            <a:pPr indent="0" marL="0">
              <a:buNone/>
            </a:pPr>
            <a:r>
              <a:rPr lang="en-US" sz="1500" b="1" dirty="0">
                <a:solidFill>
                  <a:srgbClr val="191A23"/>
                </a:solidFill>
                <a:latin typeface="Poppins" pitchFamily="34" charset="0"/>
                <a:ea typeface="Poppins" pitchFamily="34" charset="-122"/>
                <a:cs typeface="Poppins" pitchFamily="34" charset="-120"/>
              </a:rPr>
              <a:t>Cells</a:t>
            </a:r>
            <a:endParaRPr lang="en-US" sz="1500" dirty="0"/>
          </a:p>
        </p:txBody>
      </p:sp>
      <p:sp>
        <p:nvSpPr>
          <p:cNvPr id="11" name="Text 9"/>
          <p:cNvSpPr/>
          <p:nvPr/>
        </p:nvSpPr>
        <p:spPr>
          <a:xfrm>
            <a:off x="2468880" y="3520440"/>
            <a:ext cx="3566160" cy="1188720"/>
          </a:xfrm>
          <a:prstGeom prst="rect">
            <a:avLst/>
          </a:prstGeom>
          <a:noFill/>
          <a:ln/>
        </p:spPr>
        <p:txBody>
          <a:bodyPr wrap="square" lIns="0" tIns="0" rIns="0" bIns="0" rtlCol="0" anchor="t"/>
          <a:lstStyle/>
          <a:p>
            <a:pPr indent="0" marL="0">
              <a:buNone/>
            </a:pPr>
            <a:r>
              <a:rPr lang="en-US" sz="1300" dirty="0">
                <a:solidFill>
                  <a:srgbClr val="6E7180"/>
                </a:solidFill>
                <a:latin typeface="Poppins" pitchFamily="34" charset="0"/>
                <a:ea typeface="Poppins" pitchFamily="34" charset="-122"/>
                <a:cs typeface="Poppins" pitchFamily="34" charset="-120"/>
              </a:rPr>
              <a:t>Acceso por coordenadas numéricas.</a:t>
            </a:r>
            <a:endParaRPr lang="en-US" sz="1300" dirty="0"/>
          </a:p>
        </p:txBody>
      </p:sp>
      <p:sp>
        <p:nvSpPr>
          <p:cNvPr id="12" name="Shape 10"/>
          <p:cNvSpPr/>
          <p:nvPr/>
        </p:nvSpPr>
        <p:spPr>
          <a:xfrm>
            <a:off x="6583680" y="3566160"/>
            <a:ext cx="5074920" cy="777240"/>
          </a:xfrm>
          <a:prstGeom prst="roundRect">
            <a:avLst>
              <a:gd name="adj" fmla="val 7059"/>
            </a:avLst>
          </a:prstGeom>
          <a:solidFill>
            <a:srgbClr val="312E81"/>
          </a:solidFill>
          <a:ln/>
        </p:spPr>
      </p:sp>
      <p:sp>
        <p:nvSpPr>
          <p:cNvPr id="13" name="Text 11"/>
          <p:cNvSpPr/>
          <p:nvPr/>
        </p:nvSpPr>
        <p:spPr>
          <a:xfrm>
            <a:off x="6812280" y="3730752"/>
            <a:ext cx="4617720" cy="44805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Cells(3, 2).Value = "Hola"</a:t>
            </a:r>
            <a:endParaRPr lang="en-US" sz="1300" dirty="0"/>
          </a:p>
        </p:txBody>
      </p:sp>
      <p:sp>
        <p:nvSpPr>
          <p:cNvPr id="14" name="Text 12"/>
          <p:cNvSpPr/>
          <p:nvPr/>
        </p:nvSpPr>
        <p:spPr>
          <a:xfrm>
            <a:off x="548640" y="4937760"/>
            <a:ext cx="1828800" cy="1188720"/>
          </a:xfrm>
          <a:prstGeom prst="rect">
            <a:avLst/>
          </a:prstGeom>
          <a:noFill/>
          <a:ln/>
        </p:spPr>
        <p:txBody>
          <a:bodyPr wrap="square" lIns="0" tIns="0" rIns="0" bIns="0" rtlCol="0" anchor="ctr"/>
          <a:lstStyle/>
          <a:p>
            <a:pPr indent="0" marL="0">
              <a:buNone/>
            </a:pPr>
            <a:r>
              <a:rPr lang="en-US" sz="1500" b="1" dirty="0">
                <a:solidFill>
                  <a:srgbClr val="191A23"/>
                </a:solidFill>
                <a:latin typeface="Poppins" pitchFamily="34" charset="0"/>
                <a:ea typeface="Poppins" pitchFamily="34" charset="-122"/>
                <a:cs typeface="Poppins" pitchFamily="34" charset="-120"/>
              </a:rPr>
              <a:t>Selection</a:t>
            </a:r>
            <a:endParaRPr lang="en-US" sz="1500" dirty="0"/>
          </a:p>
        </p:txBody>
      </p:sp>
      <p:sp>
        <p:nvSpPr>
          <p:cNvPr id="15" name="Text 13"/>
          <p:cNvSpPr/>
          <p:nvPr/>
        </p:nvSpPr>
        <p:spPr>
          <a:xfrm>
            <a:off x="2468880" y="4937760"/>
            <a:ext cx="3566160" cy="1188720"/>
          </a:xfrm>
          <a:prstGeom prst="rect">
            <a:avLst/>
          </a:prstGeom>
          <a:noFill/>
          <a:ln/>
        </p:spPr>
        <p:txBody>
          <a:bodyPr wrap="square" lIns="0" tIns="0" rIns="0" bIns="0" rtlCol="0" anchor="t"/>
          <a:lstStyle/>
          <a:p>
            <a:pPr indent="0" marL="0">
              <a:buNone/>
            </a:pPr>
            <a:r>
              <a:rPr lang="en-US" sz="1300" dirty="0">
                <a:solidFill>
                  <a:srgbClr val="6E7180"/>
                </a:solidFill>
                <a:latin typeface="Poppins" pitchFamily="34" charset="0"/>
                <a:ea typeface="Poppins" pitchFamily="34" charset="-122"/>
                <a:cs typeface="Poppins" pitchFamily="34" charset="-120"/>
              </a:rPr>
              <a:t>Hace referencia al rango actualmente seleccionado.</a:t>
            </a:r>
            <a:endParaRPr lang="en-US" sz="1300" dirty="0"/>
          </a:p>
        </p:txBody>
      </p:sp>
      <p:sp>
        <p:nvSpPr>
          <p:cNvPr id="16" name="Shape 14"/>
          <p:cNvSpPr/>
          <p:nvPr/>
        </p:nvSpPr>
        <p:spPr>
          <a:xfrm>
            <a:off x="6583680" y="4983480"/>
            <a:ext cx="5074920" cy="777240"/>
          </a:xfrm>
          <a:prstGeom prst="roundRect">
            <a:avLst>
              <a:gd name="adj" fmla="val 7059"/>
            </a:avLst>
          </a:prstGeom>
          <a:solidFill>
            <a:srgbClr val="312E81"/>
          </a:solidFill>
          <a:ln/>
        </p:spPr>
      </p:sp>
      <p:sp>
        <p:nvSpPr>
          <p:cNvPr id="17" name="Text 15"/>
          <p:cNvSpPr/>
          <p:nvPr/>
        </p:nvSpPr>
        <p:spPr>
          <a:xfrm>
            <a:off x="6812280" y="5148072"/>
            <a:ext cx="4617720" cy="44805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Selection.Font.Italic = True</a:t>
            </a:r>
            <a:endParaRPr lang="en-US" sz="1300" dirty="0"/>
          </a:p>
        </p:txBody>
      </p:sp>
      <p:sp>
        <p:nvSpPr>
          <p:cNvPr id="18" name="Text 16"/>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900" dirty="0">
                <a:solidFill>
                  <a:srgbClr val="6E7180"/>
                </a:solidFill>
                <a:latin typeface="Poppins" pitchFamily="34" charset="0"/>
                <a:ea typeface="Poppins" pitchFamily="34" charset="-122"/>
                <a:cs typeface="Poppin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3657600" cy="320040"/>
          </a:xfrm>
          <a:prstGeom prst="rect">
            <a:avLst/>
          </a:prstGeom>
          <a:noFill/>
          <a:ln/>
        </p:spPr>
        <p:txBody>
          <a:bodyPr wrap="square" lIns="0" tIns="0" rIns="0" bIns="0" rtlCol="0" anchor="ctr"/>
          <a:lstStyle/>
          <a:p>
            <a:pPr indent="0" marL="0">
              <a:buNone/>
            </a:pPr>
            <a:r>
              <a:rPr lang="en-US" sz="1200" b="1" spc="300" kern="0" dirty="0">
                <a:solidFill>
                  <a:srgbClr val="4F46E5"/>
                </a:solidFill>
                <a:latin typeface="Poppins" pitchFamily="34" charset="0"/>
                <a:ea typeface="Poppins" pitchFamily="34" charset="-122"/>
                <a:cs typeface="Poppins" pitchFamily="34" charset="-120"/>
              </a:rPr>
              <a:t>NÓVARIS</a:t>
            </a:r>
            <a:endParaRPr lang="en-US" sz="1200" dirty="0"/>
          </a:p>
        </p:txBody>
      </p:sp>
      <p:sp>
        <p:nvSpPr>
          <p:cNvPr id="3" name="Shape 1"/>
          <p:cNvSpPr/>
          <p:nvPr/>
        </p:nvSpPr>
        <p:spPr>
          <a:xfrm>
            <a:off x="548640" y="685800"/>
            <a:ext cx="11091672" cy="0"/>
          </a:xfrm>
          <a:prstGeom prst="line">
            <a:avLst/>
          </a:prstGeom>
          <a:noFill/>
          <a:ln w="15875">
            <a:solidFill>
              <a:srgbClr val="312E81"/>
            </a:solidFill>
            <a:prstDash val="solid"/>
          </a:ln>
        </p:spPr>
      </p:sp>
      <p:sp>
        <p:nvSpPr>
          <p:cNvPr id="4" name="Text 2"/>
          <p:cNvSpPr/>
          <p:nvPr/>
        </p:nvSpPr>
        <p:spPr>
          <a:xfrm>
            <a:off x="548640" y="822960"/>
            <a:ext cx="11091672" cy="640080"/>
          </a:xfrm>
          <a:prstGeom prst="rect">
            <a:avLst/>
          </a:prstGeom>
          <a:noFill/>
          <a:ln/>
        </p:spPr>
        <p:txBody>
          <a:bodyPr wrap="square" lIns="0" tIns="0" rIns="0" bIns="0" rtlCol="0" anchor="ctr"/>
          <a:lstStyle/>
          <a:p>
            <a:pPr indent="0" marL="0">
              <a:buNone/>
            </a:pPr>
            <a:r>
              <a:rPr lang="en-US" sz="2800" b="1" dirty="0">
                <a:solidFill>
                  <a:srgbClr val="191A23"/>
                </a:solidFill>
                <a:latin typeface="Lora" pitchFamily="34" charset="0"/>
                <a:ea typeface="Lora" pitchFamily="34" charset="-122"/>
                <a:cs typeface="Lora" pitchFamily="34" charset="-120"/>
              </a:rPr>
              <a:t>Interacción con el usuario</a:t>
            </a:r>
            <a:endParaRPr lang="en-US" sz="2800" dirty="0"/>
          </a:p>
        </p:txBody>
      </p:sp>
      <p:sp>
        <p:nvSpPr>
          <p:cNvPr id="5" name="Text 3"/>
          <p:cNvSpPr/>
          <p:nvPr/>
        </p:nvSpPr>
        <p:spPr>
          <a:xfrm>
            <a:off x="548640" y="1737360"/>
            <a:ext cx="2743200" cy="365760"/>
          </a:xfrm>
          <a:prstGeom prst="rect">
            <a:avLst/>
          </a:prstGeom>
          <a:noFill/>
          <a:ln/>
        </p:spPr>
        <p:txBody>
          <a:bodyPr wrap="square" lIns="0" tIns="0" rIns="0" bIns="0" rtlCol="0" anchor="ctr"/>
          <a:lstStyle/>
          <a:p>
            <a:pPr indent="0" marL="0">
              <a:buNone/>
            </a:pPr>
            <a:r>
              <a:rPr lang="en-US" sz="1600" b="1" dirty="0">
                <a:solidFill>
                  <a:srgbClr val="191A23"/>
                </a:solidFill>
                <a:latin typeface="Poppins" pitchFamily="34" charset="0"/>
                <a:ea typeface="Poppins" pitchFamily="34" charset="-122"/>
                <a:cs typeface="Poppins" pitchFamily="34" charset="-120"/>
              </a:rPr>
              <a:t>MsgBox</a:t>
            </a:r>
            <a:endParaRPr lang="en-US" sz="1600" dirty="0"/>
          </a:p>
        </p:txBody>
      </p:sp>
      <p:sp>
        <p:nvSpPr>
          <p:cNvPr id="6" name="Text 4"/>
          <p:cNvSpPr/>
          <p:nvPr/>
        </p:nvSpPr>
        <p:spPr>
          <a:xfrm>
            <a:off x="548640" y="2103120"/>
            <a:ext cx="5029200" cy="914400"/>
          </a:xfrm>
          <a:prstGeom prst="rect">
            <a:avLst/>
          </a:prstGeom>
          <a:noFill/>
          <a:ln/>
        </p:spPr>
        <p:txBody>
          <a:bodyPr wrap="square" lIns="0" tIns="0" rIns="0" bIns="0" rtlCol="0" anchor="t"/>
          <a:lstStyle/>
          <a:p>
            <a:pPr indent="0" marL="0">
              <a:buNone/>
            </a:pPr>
            <a:r>
              <a:rPr lang="en-US" sz="1300" dirty="0">
                <a:solidFill>
                  <a:srgbClr val="6E7180"/>
                </a:solidFill>
                <a:latin typeface="Poppins" pitchFamily="34" charset="0"/>
                <a:ea typeface="Poppins" pitchFamily="34" charset="-122"/>
                <a:cs typeface="Poppins" pitchFamily="34" charset="-120"/>
              </a:rPr>
              <a:t>Muestra mensajes al usuario.</a:t>
            </a:r>
            <a:endParaRPr lang="en-US" sz="1300" dirty="0"/>
          </a:p>
        </p:txBody>
      </p:sp>
      <p:sp>
        <p:nvSpPr>
          <p:cNvPr id="7" name="Shape 5"/>
          <p:cNvSpPr/>
          <p:nvPr/>
        </p:nvSpPr>
        <p:spPr>
          <a:xfrm>
            <a:off x="6583680" y="1737360"/>
            <a:ext cx="5074920" cy="777240"/>
          </a:xfrm>
          <a:prstGeom prst="roundRect">
            <a:avLst>
              <a:gd name="adj" fmla="val 7059"/>
            </a:avLst>
          </a:prstGeom>
          <a:solidFill>
            <a:srgbClr val="312E81"/>
          </a:solidFill>
          <a:ln/>
        </p:spPr>
      </p:sp>
      <p:sp>
        <p:nvSpPr>
          <p:cNvPr id="8" name="Text 6"/>
          <p:cNvSpPr/>
          <p:nvPr/>
        </p:nvSpPr>
        <p:spPr>
          <a:xfrm>
            <a:off x="6812280" y="1901952"/>
            <a:ext cx="4617720" cy="44805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MsgBox "Operación completada"</a:t>
            </a:r>
            <a:endParaRPr lang="en-US" sz="1300" dirty="0"/>
          </a:p>
        </p:txBody>
      </p:sp>
      <p:sp>
        <p:nvSpPr>
          <p:cNvPr id="9" name="Text 7"/>
          <p:cNvSpPr/>
          <p:nvPr/>
        </p:nvSpPr>
        <p:spPr>
          <a:xfrm>
            <a:off x="548640" y="3246120"/>
            <a:ext cx="2743200" cy="365760"/>
          </a:xfrm>
          <a:prstGeom prst="rect">
            <a:avLst/>
          </a:prstGeom>
          <a:noFill/>
          <a:ln/>
        </p:spPr>
        <p:txBody>
          <a:bodyPr wrap="square" lIns="0" tIns="0" rIns="0" bIns="0" rtlCol="0" anchor="ctr"/>
          <a:lstStyle/>
          <a:p>
            <a:pPr indent="0" marL="0">
              <a:buNone/>
            </a:pPr>
            <a:r>
              <a:rPr lang="en-US" sz="1600" b="1" dirty="0">
                <a:solidFill>
                  <a:srgbClr val="191A23"/>
                </a:solidFill>
                <a:latin typeface="Poppins" pitchFamily="34" charset="0"/>
                <a:ea typeface="Poppins" pitchFamily="34" charset="-122"/>
                <a:cs typeface="Poppins" pitchFamily="34" charset="-120"/>
              </a:rPr>
              <a:t>InputBox</a:t>
            </a:r>
            <a:endParaRPr lang="en-US" sz="1600" dirty="0"/>
          </a:p>
        </p:txBody>
      </p:sp>
      <p:sp>
        <p:nvSpPr>
          <p:cNvPr id="10" name="Text 8"/>
          <p:cNvSpPr/>
          <p:nvPr/>
        </p:nvSpPr>
        <p:spPr>
          <a:xfrm>
            <a:off x="548640" y="3611880"/>
            <a:ext cx="5029200" cy="914400"/>
          </a:xfrm>
          <a:prstGeom prst="rect">
            <a:avLst/>
          </a:prstGeom>
          <a:noFill/>
          <a:ln/>
        </p:spPr>
        <p:txBody>
          <a:bodyPr wrap="square" lIns="0" tIns="0" rIns="0" bIns="0" rtlCol="0" anchor="t"/>
          <a:lstStyle/>
          <a:p>
            <a:pPr indent="0" marL="0">
              <a:buNone/>
            </a:pPr>
            <a:r>
              <a:rPr lang="en-US" sz="1300" dirty="0">
                <a:solidFill>
                  <a:srgbClr val="6E7180"/>
                </a:solidFill>
                <a:latin typeface="Poppins" pitchFamily="34" charset="0"/>
                <a:ea typeface="Poppins" pitchFamily="34" charset="-122"/>
                <a:cs typeface="Poppins" pitchFamily="34" charset="-120"/>
              </a:rPr>
              <a:t>Solicita información al usuario.</a:t>
            </a:r>
            <a:endParaRPr lang="en-US" sz="1300" dirty="0"/>
          </a:p>
        </p:txBody>
      </p:sp>
      <p:sp>
        <p:nvSpPr>
          <p:cNvPr id="11" name="Shape 9"/>
          <p:cNvSpPr/>
          <p:nvPr/>
        </p:nvSpPr>
        <p:spPr>
          <a:xfrm>
            <a:off x="6583680" y="3246120"/>
            <a:ext cx="5074920" cy="777240"/>
          </a:xfrm>
          <a:prstGeom prst="roundRect">
            <a:avLst>
              <a:gd name="adj" fmla="val 7059"/>
            </a:avLst>
          </a:prstGeom>
          <a:solidFill>
            <a:srgbClr val="312E81"/>
          </a:solidFill>
          <a:ln/>
        </p:spPr>
      </p:sp>
      <p:sp>
        <p:nvSpPr>
          <p:cNvPr id="12" name="Text 10"/>
          <p:cNvSpPr/>
          <p:nvPr/>
        </p:nvSpPr>
        <p:spPr>
          <a:xfrm>
            <a:off x="6812280" y="3410712"/>
            <a:ext cx="4617720" cy="44805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nombre = InputBox("Introduce tu nombre:")</a:t>
            </a:r>
            <a:endParaRPr lang="en-US" sz="1300" dirty="0"/>
          </a:p>
        </p:txBody>
      </p:sp>
      <p:sp>
        <p:nvSpPr>
          <p:cNvPr id="13" name="Text 11"/>
          <p:cNvSpPr/>
          <p:nvPr/>
        </p:nvSpPr>
        <p:spPr>
          <a:xfrm>
            <a:off x="548640" y="4754880"/>
            <a:ext cx="2743200" cy="365760"/>
          </a:xfrm>
          <a:prstGeom prst="rect">
            <a:avLst/>
          </a:prstGeom>
          <a:noFill/>
          <a:ln/>
        </p:spPr>
        <p:txBody>
          <a:bodyPr wrap="square" lIns="0" tIns="0" rIns="0" bIns="0" rtlCol="0" anchor="ctr"/>
          <a:lstStyle/>
          <a:p>
            <a:pPr indent="0" marL="0">
              <a:buNone/>
            </a:pPr>
            <a:r>
              <a:rPr lang="en-US" sz="1600" b="1" dirty="0">
                <a:solidFill>
                  <a:srgbClr val="191A23"/>
                </a:solidFill>
                <a:latin typeface="Poppins" pitchFamily="34" charset="0"/>
                <a:ea typeface="Poppins" pitchFamily="34" charset="-122"/>
                <a:cs typeface="Poppins" pitchFamily="34" charset="-120"/>
              </a:rPr>
              <a:t>UserForms</a:t>
            </a:r>
            <a:endParaRPr lang="en-US" sz="1600" dirty="0"/>
          </a:p>
        </p:txBody>
      </p:sp>
      <p:sp>
        <p:nvSpPr>
          <p:cNvPr id="14" name="Text 12"/>
          <p:cNvSpPr/>
          <p:nvPr/>
        </p:nvSpPr>
        <p:spPr>
          <a:xfrm>
            <a:off x="548640" y="5120640"/>
            <a:ext cx="5029200" cy="914400"/>
          </a:xfrm>
          <a:prstGeom prst="rect">
            <a:avLst/>
          </a:prstGeom>
          <a:noFill/>
          <a:ln/>
        </p:spPr>
        <p:txBody>
          <a:bodyPr wrap="square" lIns="0" tIns="0" rIns="0" bIns="0" rtlCol="0" anchor="t"/>
          <a:lstStyle/>
          <a:p>
            <a:pPr indent="0" marL="0">
              <a:buNone/>
            </a:pPr>
            <a:r>
              <a:rPr lang="en-US" sz="1300" dirty="0">
                <a:solidFill>
                  <a:srgbClr val="6E7180"/>
                </a:solidFill>
                <a:latin typeface="Poppins" pitchFamily="34" charset="0"/>
                <a:ea typeface="Poppins" pitchFamily="34" charset="-122"/>
                <a:cs typeface="Poppins" pitchFamily="34" charset="-120"/>
              </a:rPr>
              <a:t>Formularios personalizados para interacción avanzada.</a:t>
            </a:r>
            <a:endParaRPr lang="en-US" sz="1300" dirty="0"/>
          </a:p>
        </p:txBody>
      </p:sp>
      <p:sp>
        <p:nvSpPr>
          <p:cNvPr id="15" name="Text 13"/>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900" dirty="0">
                <a:solidFill>
                  <a:srgbClr val="6E7180"/>
                </a:solidFill>
                <a:latin typeface="Poppins" pitchFamily="34" charset="0"/>
                <a:ea typeface="Poppins" pitchFamily="34" charset="-122"/>
                <a:cs typeface="Poppin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3657600" cy="320040"/>
          </a:xfrm>
          <a:prstGeom prst="rect">
            <a:avLst/>
          </a:prstGeom>
          <a:noFill/>
          <a:ln/>
        </p:spPr>
        <p:txBody>
          <a:bodyPr wrap="square" lIns="0" tIns="0" rIns="0" bIns="0" rtlCol="0" anchor="ctr"/>
          <a:lstStyle/>
          <a:p>
            <a:pPr indent="0" marL="0">
              <a:buNone/>
            </a:pPr>
            <a:r>
              <a:rPr lang="en-US" sz="1200" b="1" spc="300" kern="0" dirty="0">
                <a:solidFill>
                  <a:srgbClr val="4F46E5"/>
                </a:solidFill>
                <a:latin typeface="Poppins" pitchFamily="34" charset="0"/>
                <a:ea typeface="Poppins" pitchFamily="34" charset="-122"/>
                <a:cs typeface="Poppins" pitchFamily="34" charset="-120"/>
              </a:rPr>
              <a:t>NÓVARIS</a:t>
            </a:r>
            <a:endParaRPr lang="en-US" sz="1200" dirty="0"/>
          </a:p>
        </p:txBody>
      </p:sp>
      <p:sp>
        <p:nvSpPr>
          <p:cNvPr id="3" name="Shape 1"/>
          <p:cNvSpPr/>
          <p:nvPr/>
        </p:nvSpPr>
        <p:spPr>
          <a:xfrm>
            <a:off x="548640" y="685800"/>
            <a:ext cx="11091672" cy="0"/>
          </a:xfrm>
          <a:prstGeom prst="line">
            <a:avLst/>
          </a:prstGeom>
          <a:noFill/>
          <a:ln w="15875">
            <a:solidFill>
              <a:srgbClr val="312E81"/>
            </a:solidFill>
            <a:prstDash val="solid"/>
          </a:ln>
        </p:spPr>
      </p:sp>
      <p:sp>
        <p:nvSpPr>
          <p:cNvPr id="4" name="Text 2"/>
          <p:cNvSpPr/>
          <p:nvPr/>
        </p:nvSpPr>
        <p:spPr>
          <a:xfrm>
            <a:off x="548640" y="822960"/>
            <a:ext cx="11091672" cy="640080"/>
          </a:xfrm>
          <a:prstGeom prst="rect">
            <a:avLst/>
          </a:prstGeom>
          <a:noFill/>
          <a:ln/>
        </p:spPr>
        <p:txBody>
          <a:bodyPr wrap="square" lIns="0" tIns="0" rIns="0" bIns="0" rtlCol="0" anchor="ctr"/>
          <a:lstStyle/>
          <a:p>
            <a:pPr indent="0" marL="0">
              <a:buNone/>
            </a:pPr>
            <a:r>
              <a:rPr lang="en-US" sz="2800" b="1" dirty="0">
                <a:solidFill>
                  <a:srgbClr val="191A23"/>
                </a:solidFill>
                <a:latin typeface="Lora" pitchFamily="34" charset="0"/>
                <a:ea typeface="Lora" pitchFamily="34" charset="-122"/>
                <a:cs typeface="Lora" pitchFamily="34" charset="-120"/>
              </a:rPr>
              <a:t>Gestión de errores</a:t>
            </a:r>
            <a:endParaRPr lang="en-US" sz="2800" dirty="0"/>
          </a:p>
        </p:txBody>
      </p:sp>
      <p:sp>
        <p:nvSpPr>
          <p:cNvPr id="5" name="Text 3"/>
          <p:cNvSpPr/>
          <p:nvPr/>
        </p:nvSpPr>
        <p:spPr>
          <a:xfrm>
            <a:off x="548640" y="1600200"/>
            <a:ext cx="11091672" cy="365760"/>
          </a:xfrm>
          <a:prstGeom prst="rect">
            <a:avLst/>
          </a:prstGeom>
          <a:noFill/>
          <a:ln/>
        </p:spPr>
        <p:txBody>
          <a:bodyPr wrap="square" lIns="0" tIns="0" rIns="0" bIns="0" rtlCol="0" anchor="ctr"/>
          <a:lstStyle/>
          <a:p>
            <a:pPr indent="0" marL="0">
              <a:buNone/>
            </a:pPr>
            <a:r>
              <a:rPr lang="en-US" sz="1600" b="1" dirty="0">
                <a:solidFill>
                  <a:srgbClr val="4F46E5"/>
                </a:solidFill>
                <a:latin typeface="Poppins" pitchFamily="34" charset="0"/>
                <a:ea typeface="Poppins" pitchFamily="34" charset="-122"/>
                <a:cs typeface="Poppins" pitchFamily="34" charset="-120"/>
              </a:rPr>
              <a:t>Sentencias y manejo de excepciones</a:t>
            </a:r>
            <a:endParaRPr lang="en-US" sz="1600" dirty="0"/>
          </a:p>
        </p:txBody>
      </p:sp>
      <p:sp>
        <p:nvSpPr>
          <p:cNvPr id="6" name="Text 4"/>
          <p:cNvSpPr/>
          <p:nvPr/>
        </p:nvSpPr>
        <p:spPr>
          <a:xfrm>
            <a:off x="548640" y="2103120"/>
            <a:ext cx="11091672" cy="38404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3C3D4A"/>
                </a:solidFill>
                <a:latin typeface="Poppins" pitchFamily="34" charset="0"/>
                <a:ea typeface="Poppins" pitchFamily="34" charset="-122"/>
                <a:cs typeface="Poppins" pitchFamily="34" charset="-120"/>
              </a:rPr>
              <a:t>On Error: define cómo actuar ante errores.</a:t>
            </a:r>
            <a:endParaRPr lang="en-US" sz="1500" dirty="0"/>
          </a:p>
          <a:p>
            <a:pPr marL="342900" indent="-342900">
              <a:spcAft>
                <a:spcPts val="1000"/>
              </a:spcAft>
              <a:buSzPct val="100000"/>
              <a:buChar char="–"/>
            </a:pPr>
            <a:r>
              <a:rPr lang="en-US" sz="1500" dirty="0">
                <a:solidFill>
                  <a:srgbClr val="3C3D4A"/>
                </a:solidFill>
                <a:latin typeface="Poppins" pitchFamily="34" charset="0"/>
                <a:ea typeface="Poppins" pitchFamily="34" charset="-122"/>
                <a:cs typeface="Poppins" pitchFamily="34" charset="-120"/>
              </a:rPr>
              <a:t>On Error Resume Next (ignora el error y continúa)</a:t>
            </a:r>
            <a:endParaRPr lang="en-US" sz="1500" dirty="0"/>
          </a:p>
          <a:p>
            <a:pPr marL="342900" indent="-342900">
              <a:spcAft>
                <a:spcPts val="1000"/>
              </a:spcAft>
              <a:buSzPct val="100000"/>
              <a:buChar char="–"/>
            </a:pPr>
            <a:r>
              <a:rPr lang="en-US" sz="1500" dirty="0">
                <a:solidFill>
                  <a:srgbClr val="3C3D4A"/>
                </a:solidFill>
                <a:latin typeface="Poppins" pitchFamily="34" charset="0"/>
                <a:ea typeface="Poppins" pitchFamily="34" charset="-122"/>
                <a:cs typeface="Poppins" pitchFamily="34" charset="-120"/>
              </a:rPr>
              <a:t>On Error GoTo etiqueta (redirige la ejecución a una etiqueta específica)</a:t>
            </a:r>
            <a:endParaRPr lang="en-US" sz="1500" dirty="0"/>
          </a:p>
          <a:p>
            <a:pPr marL="342900" indent="-342900">
              <a:spcAft>
                <a:spcPts val="1000"/>
              </a:spcAft>
              <a:buSzPct val="100000"/>
              <a:buChar char="–"/>
            </a:pPr>
            <a:r>
              <a:rPr lang="en-US" sz="1500" dirty="0">
                <a:solidFill>
                  <a:srgbClr val="3C3D4A"/>
                </a:solidFill>
                <a:latin typeface="Poppins" pitchFamily="34" charset="0"/>
                <a:ea typeface="Poppins" pitchFamily="34" charset="-122"/>
                <a:cs typeface="Poppins" pitchFamily="34" charset="-120"/>
              </a:rPr>
              <a:t>Resume: reanuda la ejecución tras un error (Resume Next).</a:t>
            </a:r>
            <a:endParaRPr lang="en-US" sz="1500" dirty="0"/>
          </a:p>
          <a:p>
            <a:pPr marL="342900" indent="-342900">
              <a:spcAft>
                <a:spcPts val="1000"/>
              </a:spcAft>
              <a:buSzPct val="100000"/>
              <a:buChar char="–"/>
            </a:pPr>
            <a:r>
              <a:rPr lang="en-US" sz="1500" dirty="0">
                <a:solidFill>
                  <a:srgbClr val="3C3D4A"/>
                </a:solidFill>
                <a:latin typeface="Poppins" pitchFamily="34" charset="0"/>
                <a:ea typeface="Poppins" pitchFamily="34" charset="-122"/>
                <a:cs typeface="Poppins" pitchFamily="34" charset="-120"/>
              </a:rPr>
              <a:t>Un manejo adecuado de errores previene bloqueos y asegura una experiencia robusta para el usuario.</a:t>
            </a:r>
            <a:endParaRPr lang="en-US" sz="1500" dirty="0"/>
          </a:p>
        </p:txBody>
      </p:sp>
      <p:sp>
        <p:nvSpPr>
          <p:cNvPr id="7" name="Text 5"/>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900" dirty="0">
                <a:solidFill>
                  <a:srgbClr val="6E7180"/>
                </a:solidFill>
                <a:latin typeface="Poppins" pitchFamily="34" charset="0"/>
                <a:ea typeface="Poppins" pitchFamily="34" charset="-122"/>
                <a:cs typeface="Poppin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3657600" cy="320040"/>
          </a:xfrm>
          <a:prstGeom prst="rect">
            <a:avLst/>
          </a:prstGeom>
          <a:noFill/>
          <a:ln/>
        </p:spPr>
        <p:txBody>
          <a:bodyPr wrap="square" lIns="0" tIns="0" rIns="0" bIns="0" rtlCol="0" anchor="ctr"/>
          <a:lstStyle/>
          <a:p>
            <a:pPr indent="0" marL="0">
              <a:buNone/>
            </a:pPr>
            <a:r>
              <a:rPr lang="en-US" sz="1200" b="1" spc="300" kern="0" dirty="0">
                <a:solidFill>
                  <a:srgbClr val="4F46E5"/>
                </a:solidFill>
                <a:latin typeface="Poppins" pitchFamily="34" charset="0"/>
                <a:ea typeface="Poppins" pitchFamily="34" charset="-122"/>
                <a:cs typeface="Poppins" pitchFamily="34" charset="-120"/>
              </a:rPr>
              <a:t>NÓVARIS</a:t>
            </a:r>
            <a:endParaRPr lang="en-US" sz="1200" dirty="0"/>
          </a:p>
        </p:txBody>
      </p:sp>
      <p:sp>
        <p:nvSpPr>
          <p:cNvPr id="3" name="Shape 1"/>
          <p:cNvSpPr/>
          <p:nvPr/>
        </p:nvSpPr>
        <p:spPr>
          <a:xfrm>
            <a:off x="548640" y="685800"/>
            <a:ext cx="11091672" cy="0"/>
          </a:xfrm>
          <a:prstGeom prst="line">
            <a:avLst/>
          </a:prstGeom>
          <a:noFill/>
          <a:ln w="15875">
            <a:solidFill>
              <a:srgbClr val="312E81"/>
            </a:solidFill>
            <a:prstDash val="solid"/>
          </a:ln>
        </p:spPr>
      </p:sp>
      <p:sp>
        <p:nvSpPr>
          <p:cNvPr id="4" name="Text 2"/>
          <p:cNvSpPr/>
          <p:nvPr/>
        </p:nvSpPr>
        <p:spPr>
          <a:xfrm>
            <a:off x="548640" y="822960"/>
            <a:ext cx="11091672" cy="640080"/>
          </a:xfrm>
          <a:prstGeom prst="rect">
            <a:avLst/>
          </a:prstGeom>
          <a:noFill/>
          <a:ln/>
        </p:spPr>
        <p:txBody>
          <a:bodyPr wrap="square" lIns="0" tIns="0" rIns="0" bIns="0" rtlCol="0" anchor="ctr"/>
          <a:lstStyle/>
          <a:p>
            <a:pPr indent="0" marL="0">
              <a:buNone/>
            </a:pPr>
            <a:r>
              <a:rPr lang="en-US" sz="2800" b="1" dirty="0">
                <a:solidFill>
                  <a:srgbClr val="191A23"/>
                </a:solidFill>
                <a:latin typeface="Lora" pitchFamily="34" charset="0"/>
                <a:ea typeface="Lora" pitchFamily="34" charset="-122"/>
                <a:cs typeface="Lora" pitchFamily="34" charset="-120"/>
              </a:rPr>
              <a:t>Ejemplos prácticos de macros comunes (I)</a:t>
            </a:r>
            <a:endParaRPr lang="en-US" sz="2800" dirty="0"/>
          </a:p>
        </p:txBody>
      </p:sp>
      <p:sp>
        <p:nvSpPr>
          <p:cNvPr id="5" name="Text 3"/>
          <p:cNvSpPr/>
          <p:nvPr/>
        </p:nvSpPr>
        <p:spPr>
          <a:xfrm>
            <a:off x="548640" y="1600200"/>
            <a:ext cx="11091672" cy="320040"/>
          </a:xfrm>
          <a:prstGeom prst="rect">
            <a:avLst/>
          </a:prstGeom>
          <a:noFill/>
          <a:ln/>
        </p:spPr>
        <p:txBody>
          <a:bodyPr wrap="square" lIns="0" tIns="0" rIns="0" bIns="0" rtlCol="0" anchor="ctr"/>
          <a:lstStyle/>
          <a:p>
            <a:pPr indent="0" marL="0">
              <a:buNone/>
            </a:pPr>
            <a:r>
              <a:rPr lang="en-US" sz="1500" b="1" dirty="0">
                <a:solidFill>
                  <a:srgbClr val="191A23"/>
                </a:solidFill>
                <a:latin typeface="Poppins" pitchFamily="34" charset="0"/>
                <a:ea typeface="Poppins" pitchFamily="34" charset="-122"/>
                <a:cs typeface="Poppins" pitchFamily="34" charset="-120"/>
              </a:rPr>
              <a:t>1. Macro para copiar datos de un rango a otro</a:t>
            </a:r>
            <a:endParaRPr lang="en-US" sz="1500" dirty="0"/>
          </a:p>
        </p:txBody>
      </p:sp>
      <p:sp>
        <p:nvSpPr>
          <p:cNvPr id="6" name="Shape 4"/>
          <p:cNvSpPr/>
          <p:nvPr/>
        </p:nvSpPr>
        <p:spPr>
          <a:xfrm>
            <a:off x="548640" y="2011680"/>
            <a:ext cx="11091672" cy="1188720"/>
          </a:xfrm>
          <a:prstGeom prst="roundRect">
            <a:avLst>
              <a:gd name="adj" fmla="val 4615"/>
            </a:avLst>
          </a:prstGeom>
          <a:solidFill>
            <a:srgbClr val="312E81"/>
          </a:solidFill>
          <a:ln/>
        </p:spPr>
      </p:sp>
      <p:sp>
        <p:nvSpPr>
          <p:cNvPr id="7" name="Text 5"/>
          <p:cNvSpPr/>
          <p:nvPr/>
        </p:nvSpPr>
        <p:spPr>
          <a:xfrm>
            <a:off x="777240" y="2176272"/>
            <a:ext cx="10634472" cy="85953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Sub CopiarDatos()</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    Range("A1:A10").Copy Destination:=Range("B1:B10")</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End Sub</a:t>
            </a:r>
            <a:endParaRPr lang="en-US" sz="1300" dirty="0"/>
          </a:p>
        </p:txBody>
      </p:sp>
      <p:sp>
        <p:nvSpPr>
          <p:cNvPr id="8" name="Text 6"/>
          <p:cNvSpPr/>
          <p:nvPr/>
        </p:nvSpPr>
        <p:spPr>
          <a:xfrm>
            <a:off x="548640" y="3429000"/>
            <a:ext cx="11091672" cy="320040"/>
          </a:xfrm>
          <a:prstGeom prst="rect">
            <a:avLst/>
          </a:prstGeom>
          <a:noFill/>
          <a:ln/>
        </p:spPr>
        <p:txBody>
          <a:bodyPr wrap="square" lIns="0" tIns="0" rIns="0" bIns="0" rtlCol="0" anchor="ctr"/>
          <a:lstStyle/>
          <a:p>
            <a:pPr indent="0" marL="0">
              <a:buNone/>
            </a:pPr>
            <a:r>
              <a:rPr lang="en-US" sz="1500" b="1" dirty="0">
                <a:solidFill>
                  <a:srgbClr val="191A23"/>
                </a:solidFill>
                <a:latin typeface="Poppins" pitchFamily="34" charset="0"/>
                <a:ea typeface="Poppins" pitchFamily="34" charset="-122"/>
                <a:cs typeface="Poppins" pitchFamily="34" charset="-120"/>
              </a:rPr>
              <a:t>2. Macro para sumar valores de una columna</a:t>
            </a:r>
            <a:endParaRPr lang="en-US" sz="1500" dirty="0"/>
          </a:p>
        </p:txBody>
      </p:sp>
      <p:sp>
        <p:nvSpPr>
          <p:cNvPr id="9" name="Shape 7"/>
          <p:cNvSpPr/>
          <p:nvPr/>
        </p:nvSpPr>
        <p:spPr>
          <a:xfrm>
            <a:off x="548640" y="3840480"/>
            <a:ext cx="11091672" cy="2423160"/>
          </a:xfrm>
          <a:prstGeom prst="roundRect">
            <a:avLst>
              <a:gd name="adj" fmla="val 2264"/>
            </a:avLst>
          </a:prstGeom>
          <a:solidFill>
            <a:srgbClr val="312E81"/>
          </a:solidFill>
          <a:ln/>
        </p:spPr>
      </p:sp>
      <p:sp>
        <p:nvSpPr>
          <p:cNvPr id="10" name="Text 8"/>
          <p:cNvSpPr/>
          <p:nvPr/>
        </p:nvSpPr>
        <p:spPr>
          <a:xfrm>
            <a:off x="777240" y="4005072"/>
            <a:ext cx="10634472" cy="209397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Sub SumarColumna()</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    Dim suma As Double</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    Dim i As Integer</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    suma = 0</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    For i = 1 To 10</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        suma = suma + Cells(i, 1).Value</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    Next i</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    MsgBox "La suma es: " &amp; suma</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End Sub</a:t>
            </a:r>
            <a:endParaRPr lang="en-US" sz="1300" dirty="0"/>
          </a:p>
        </p:txBody>
      </p:sp>
      <p:sp>
        <p:nvSpPr>
          <p:cNvPr id="11" name="Text 9"/>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900" dirty="0">
                <a:solidFill>
                  <a:srgbClr val="6E7180"/>
                </a:solidFill>
                <a:latin typeface="Poppins" pitchFamily="34" charset="0"/>
                <a:ea typeface="Poppins" pitchFamily="34" charset="-122"/>
                <a:cs typeface="Poppin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3657600" cy="320040"/>
          </a:xfrm>
          <a:prstGeom prst="rect">
            <a:avLst/>
          </a:prstGeom>
          <a:noFill/>
          <a:ln/>
        </p:spPr>
        <p:txBody>
          <a:bodyPr wrap="square" lIns="0" tIns="0" rIns="0" bIns="0" rtlCol="0" anchor="ctr"/>
          <a:lstStyle/>
          <a:p>
            <a:pPr indent="0" marL="0">
              <a:buNone/>
            </a:pPr>
            <a:r>
              <a:rPr lang="en-US" sz="1200" b="1" spc="300" kern="0" dirty="0">
                <a:solidFill>
                  <a:srgbClr val="4F46E5"/>
                </a:solidFill>
                <a:latin typeface="Poppins" pitchFamily="34" charset="0"/>
                <a:ea typeface="Poppins" pitchFamily="34" charset="-122"/>
                <a:cs typeface="Poppins" pitchFamily="34" charset="-120"/>
              </a:rPr>
              <a:t>NÓVARIS</a:t>
            </a:r>
            <a:endParaRPr lang="en-US" sz="1200" dirty="0"/>
          </a:p>
        </p:txBody>
      </p:sp>
      <p:sp>
        <p:nvSpPr>
          <p:cNvPr id="3" name="Shape 1"/>
          <p:cNvSpPr/>
          <p:nvPr/>
        </p:nvSpPr>
        <p:spPr>
          <a:xfrm>
            <a:off x="548640" y="685800"/>
            <a:ext cx="11091672" cy="0"/>
          </a:xfrm>
          <a:prstGeom prst="line">
            <a:avLst/>
          </a:prstGeom>
          <a:noFill/>
          <a:ln w="15875">
            <a:solidFill>
              <a:srgbClr val="312E81"/>
            </a:solidFill>
            <a:prstDash val="solid"/>
          </a:ln>
        </p:spPr>
      </p:sp>
      <p:sp>
        <p:nvSpPr>
          <p:cNvPr id="4" name="Text 2"/>
          <p:cNvSpPr/>
          <p:nvPr/>
        </p:nvSpPr>
        <p:spPr>
          <a:xfrm>
            <a:off x="548640" y="822960"/>
            <a:ext cx="11091672" cy="640080"/>
          </a:xfrm>
          <a:prstGeom prst="rect">
            <a:avLst/>
          </a:prstGeom>
          <a:noFill/>
          <a:ln/>
        </p:spPr>
        <p:txBody>
          <a:bodyPr wrap="square" lIns="0" tIns="0" rIns="0" bIns="0" rtlCol="0" anchor="ctr"/>
          <a:lstStyle/>
          <a:p>
            <a:pPr indent="0" marL="0">
              <a:buNone/>
            </a:pPr>
            <a:r>
              <a:rPr lang="en-US" sz="2800" b="1" dirty="0">
                <a:solidFill>
                  <a:srgbClr val="191A23"/>
                </a:solidFill>
                <a:latin typeface="Lora" pitchFamily="34" charset="0"/>
                <a:ea typeface="Lora" pitchFamily="34" charset="-122"/>
                <a:cs typeface="Lora" pitchFamily="34" charset="-120"/>
              </a:rPr>
              <a:t>Ejemplos prácticos de macros comunes (II)</a:t>
            </a:r>
            <a:endParaRPr lang="en-US" sz="2800" dirty="0"/>
          </a:p>
        </p:txBody>
      </p:sp>
      <p:sp>
        <p:nvSpPr>
          <p:cNvPr id="5" name="Text 3"/>
          <p:cNvSpPr/>
          <p:nvPr/>
        </p:nvSpPr>
        <p:spPr>
          <a:xfrm>
            <a:off x="548640" y="1737360"/>
            <a:ext cx="11091672" cy="365760"/>
          </a:xfrm>
          <a:prstGeom prst="rect">
            <a:avLst/>
          </a:prstGeom>
          <a:noFill/>
          <a:ln/>
        </p:spPr>
        <p:txBody>
          <a:bodyPr wrap="square" lIns="0" tIns="0" rIns="0" bIns="0" rtlCol="0" anchor="ctr"/>
          <a:lstStyle/>
          <a:p>
            <a:pPr indent="0" marL="0">
              <a:buNone/>
            </a:pPr>
            <a:r>
              <a:rPr lang="en-US" sz="1600" b="1" dirty="0">
                <a:solidFill>
                  <a:srgbClr val="191A23"/>
                </a:solidFill>
                <a:latin typeface="Poppins" pitchFamily="34" charset="0"/>
                <a:ea typeface="Poppins" pitchFamily="34" charset="-122"/>
                <a:cs typeface="Poppins" pitchFamily="34" charset="-120"/>
              </a:rPr>
              <a:t>3. Macro para buscar un valor y resaltar la celda</a:t>
            </a:r>
            <a:endParaRPr lang="en-US" sz="1600" dirty="0"/>
          </a:p>
        </p:txBody>
      </p:sp>
      <p:sp>
        <p:nvSpPr>
          <p:cNvPr id="6" name="Shape 4"/>
          <p:cNvSpPr/>
          <p:nvPr/>
        </p:nvSpPr>
        <p:spPr>
          <a:xfrm>
            <a:off x="548640" y="2240280"/>
            <a:ext cx="11091672" cy="2834640"/>
          </a:xfrm>
          <a:prstGeom prst="roundRect">
            <a:avLst>
              <a:gd name="adj" fmla="val 1935"/>
            </a:avLst>
          </a:prstGeom>
          <a:solidFill>
            <a:srgbClr val="312E81"/>
          </a:solidFill>
          <a:ln/>
        </p:spPr>
      </p:sp>
      <p:sp>
        <p:nvSpPr>
          <p:cNvPr id="7" name="Text 5"/>
          <p:cNvSpPr/>
          <p:nvPr/>
        </p:nvSpPr>
        <p:spPr>
          <a:xfrm>
            <a:off x="777240" y="2404872"/>
            <a:ext cx="10634472" cy="250545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Sub BuscarYResaltar()</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    Dim celda As Range</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    For Each celda In Range("A1:A100")</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        If celda.Value = "Objetivo" Then</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            celda.Interior.Color = vbYellow</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        End If</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    Next celda</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End Sub</a:t>
            </a:r>
            <a:endParaRPr lang="en-US" sz="1300" dirty="0"/>
          </a:p>
        </p:txBody>
      </p:sp>
      <p:sp>
        <p:nvSpPr>
          <p:cNvPr id="8" name="Text 6"/>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900" dirty="0">
                <a:solidFill>
                  <a:srgbClr val="6E7180"/>
                </a:solidFill>
                <a:latin typeface="Poppins" pitchFamily="34" charset="0"/>
                <a:ea typeface="Poppins" pitchFamily="34" charset="-122"/>
                <a:cs typeface="Poppin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3657600" cy="320040"/>
          </a:xfrm>
          <a:prstGeom prst="rect">
            <a:avLst/>
          </a:prstGeom>
          <a:noFill/>
          <a:ln/>
        </p:spPr>
        <p:txBody>
          <a:bodyPr wrap="square" lIns="0" tIns="0" rIns="0" bIns="0" rtlCol="0" anchor="ctr"/>
          <a:lstStyle/>
          <a:p>
            <a:pPr indent="0" marL="0">
              <a:buNone/>
            </a:pPr>
            <a:r>
              <a:rPr lang="en-US" sz="1200" b="1" spc="300" kern="0" dirty="0">
                <a:solidFill>
                  <a:srgbClr val="4F46E5"/>
                </a:solidFill>
                <a:latin typeface="Poppins" pitchFamily="34" charset="0"/>
                <a:ea typeface="Poppins" pitchFamily="34" charset="-122"/>
                <a:cs typeface="Poppins" pitchFamily="34" charset="-120"/>
              </a:rPr>
              <a:t>NÓVARIS</a:t>
            </a:r>
            <a:endParaRPr lang="en-US" sz="1200" dirty="0"/>
          </a:p>
        </p:txBody>
      </p:sp>
      <p:sp>
        <p:nvSpPr>
          <p:cNvPr id="3" name="Shape 1"/>
          <p:cNvSpPr/>
          <p:nvPr/>
        </p:nvSpPr>
        <p:spPr>
          <a:xfrm>
            <a:off x="548640" y="685800"/>
            <a:ext cx="11091672" cy="0"/>
          </a:xfrm>
          <a:prstGeom prst="line">
            <a:avLst/>
          </a:prstGeom>
          <a:noFill/>
          <a:ln w="15875">
            <a:solidFill>
              <a:srgbClr val="312E81"/>
            </a:solidFill>
            <a:prstDash val="solid"/>
          </a:ln>
        </p:spPr>
      </p:sp>
      <p:sp>
        <p:nvSpPr>
          <p:cNvPr id="4" name="Text 2"/>
          <p:cNvSpPr/>
          <p:nvPr/>
        </p:nvSpPr>
        <p:spPr>
          <a:xfrm>
            <a:off x="548640" y="822960"/>
            <a:ext cx="11091672" cy="640080"/>
          </a:xfrm>
          <a:prstGeom prst="rect">
            <a:avLst/>
          </a:prstGeom>
          <a:noFill/>
          <a:ln/>
        </p:spPr>
        <p:txBody>
          <a:bodyPr wrap="square" lIns="0" tIns="0" rIns="0" bIns="0" rtlCol="0" anchor="ctr"/>
          <a:lstStyle/>
          <a:p>
            <a:pPr indent="0" marL="0">
              <a:buNone/>
            </a:pPr>
            <a:r>
              <a:rPr lang="en-US" sz="2800" b="1" dirty="0">
                <a:solidFill>
                  <a:srgbClr val="191A23"/>
                </a:solidFill>
                <a:latin typeface="Lora" pitchFamily="34" charset="0"/>
                <a:ea typeface="Lora" pitchFamily="34" charset="-122"/>
                <a:cs typeface="Lora" pitchFamily="34" charset="-120"/>
              </a:rPr>
              <a:t>Buenas prácticas y recomendaciones</a:t>
            </a:r>
            <a:endParaRPr lang="en-US" sz="2800" dirty="0"/>
          </a:p>
        </p:txBody>
      </p:sp>
      <p:sp>
        <p:nvSpPr>
          <p:cNvPr id="5" name="Shape 3"/>
          <p:cNvSpPr/>
          <p:nvPr/>
        </p:nvSpPr>
        <p:spPr>
          <a:xfrm>
            <a:off x="548640" y="1737360"/>
            <a:ext cx="3453384" cy="54864"/>
          </a:xfrm>
          <a:prstGeom prst="rect">
            <a:avLst/>
          </a:prstGeom>
          <a:solidFill>
            <a:srgbClr val="C26A22"/>
          </a:solidFill>
          <a:ln/>
        </p:spPr>
      </p:sp>
      <p:sp>
        <p:nvSpPr>
          <p:cNvPr id="6" name="Text 4"/>
          <p:cNvSpPr/>
          <p:nvPr/>
        </p:nvSpPr>
        <p:spPr>
          <a:xfrm>
            <a:off x="548640" y="1874520"/>
            <a:ext cx="3453384" cy="365760"/>
          </a:xfrm>
          <a:prstGeom prst="rect">
            <a:avLst/>
          </a:prstGeom>
          <a:noFill/>
          <a:ln/>
        </p:spPr>
        <p:txBody>
          <a:bodyPr wrap="square" lIns="0" tIns="0" rIns="0" bIns="0" rtlCol="0" anchor="ctr"/>
          <a:lstStyle/>
          <a:p>
            <a:pPr indent="0" marL="0">
              <a:buNone/>
            </a:pPr>
            <a:r>
              <a:rPr lang="en-US" sz="1600" b="1" dirty="0">
                <a:solidFill>
                  <a:srgbClr val="191A23"/>
                </a:solidFill>
                <a:latin typeface="Poppins" pitchFamily="34" charset="0"/>
                <a:ea typeface="Poppins" pitchFamily="34" charset="-122"/>
                <a:cs typeface="Poppins" pitchFamily="34" charset="-120"/>
              </a:rPr>
              <a:t>Seguridad</a:t>
            </a:r>
            <a:endParaRPr lang="en-US" sz="1600" dirty="0"/>
          </a:p>
        </p:txBody>
      </p:sp>
      <p:sp>
        <p:nvSpPr>
          <p:cNvPr id="7" name="Text 5"/>
          <p:cNvSpPr/>
          <p:nvPr/>
        </p:nvSpPr>
        <p:spPr>
          <a:xfrm>
            <a:off x="548640" y="2286000"/>
            <a:ext cx="3453384" cy="2011680"/>
          </a:xfrm>
          <a:prstGeom prst="rect">
            <a:avLst/>
          </a:prstGeom>
          <a:noFill/>
          <a:ln/>
        </p:spPr>
        <p:txBody>
          <a:bodyPr wrap="square" lIns="0" tIns="0" rIns="0" bIns="0" rtlCol="0" anchor="t"/>
          <a:lstStyle/>
          <a:p>
            <a:pPr indent="0" marL="0">
              <a:lnSpc>
                <a:spcPct val="125000"/>
              </a:lnSpc>
              <a:buNone/>
            </a:pPr>
            <a:r>
              <a:rPr lang="en-US" sz="1300" dirty="0">
                <a:solidFill>
                  <a:srgbClr val="6E7180"/>
                </a:solidFill>
                <a:latin typeface="Poppins" pitchFamily="34" charset="0"/>
                <a:ea typeface="Poppins" pitchFamily="34" charset="-122"/>
                <a:cs typeface="Poppins" pitchFamily="34" charset="-120"/>
              </a:rPr>
              <a:t>No habilites macros de fuentes desconocidas. Firma digitalmente tus macros.</a:t>
            </a:r>
            <a:endParaRPr lang="en-US" sz="1300" dirty="0"/>
          </a:p>
        </p:txBody>
      </p:sp>
      <p:sp>
        <p:nvSpPr>
          <p:cNvPr id="8" name="Shape 6"/>
          <p:cNvSpPr/>
          <p:nvPr/>
        </p:nvSpPr>
        <p:spPr>
          <a:xfrm>
            <a:off x="4367784" y="1737360"/>
            <a:ext cx="3453384" cy="54864"/>
          </a:xfrm>
          <a:prstGeom prst="rect">
            <a:avLst/>
          </a:prstGeom>
          <a:solidFill>
            <a:srgbClr val="C26A22"/>
          </a:solidFill>
          <a:ln/>
        </p:spPr>
      </p:sp>
      <p:sp>
        <p:nvSpPr>
          <p:cNvPr id="9" name="Text 7"/>
          <p:cNvSpPr/>
          <p:nvPr/>
        </p:nvSpPr>
        <p:spPr>
          <a:xfrm>
            <a:off x="4367784" y="1874520"/>
            <a:ext cx="3453384" cy="365760"/>
          </a:xfrm>
          <a:prstGeom prst="rect">
            <a:avLst/>
          </a:prstGeom>
          <a:noFill/>
          <a:ln/>
        </p:spPr>
        <p:txBody>
          <a:bodyPr wrap="square" lIns="0" tIns="0" rIns="0" bIns="0" rtlCol="0" anchor="ctr"/>
          <a:lstStyle/>
          <a:p>
            <a:pPr indent="0" marL="0">
              <a:buNone/>
            </a:pPr>
            <a:r>
              <a:rPr lang="en-US" sz="1600" b="1" dirty="0">
                <a:solidFill>
                  <a:srgbClr val="191A23"/>
                </a:solidFill>
                <a:latin typeface="Poppins" pitchFamily="34" charset="0"/>
                <a:ea typeface="Poppins" pitchFamily="34" charset="-122"/>
                <a:cs typeface="Poppins" pitchFamily="34" charset="-120"/>
              </a:rPr>
              <a:t>Optimización</a:t>
            </a:r>
            <a:endParaRPr lang="en-US" sz="1600" dirty="0"/>
          </a:p>
        </p:txBody>
      </p:sp>
      <p:sp>
        <p:nvSpPr>
          <p:cNvPr id="10" name="Text 8"/>
          <p:cNvSpPr/>
          <p:nvPr/>
        </p:nvSpPr>
        <p:spPr>
          <a:xfrm>
            <a:off x="4367784" y="2286000"/>
            <a:ext cx="3453384" cy="2011680"/>
          </a:xfrm>
          <a:prstGeom prst="rect">
            <a:avLst/>
          </a:prstGeom>
          <a:noFill/>
          <a:ln/>
        </p:spPr>
        <p:txBody>
          <a:bodyPr wrap="square" lIns="0" tIns="0" rIns="0" bIns="0" rtlCol="0" anchor="t"/>
          <a:lstStyle/>
          <a:p>
            <a:pPr indent="0" marL="0">
              <a:lnSpc>
                <a:spcPct val="125000"/>
              </a:lnSpc>
              <a:buNone/>
            </a:pPr>
            <a:r>
              <a:rPr lang="en-US" sz="1300" dirty="0">
                <a:solidFill>
                  <a:srgbClr val="6E7180"/>
                </a:solidFill>
                <a:latin typeface="Poppins" pitchFamily="34" charset="0"/>
                <a:ea typeface="Poppins" pitchFamily="34" charset="-122"/>
                <a:cs typeface="Poppins" pitchFamily="34" charset="-120"/>
              </a:rPr>
              <a:t>Evita bucles innecesarios y usa variables adecuadas. Desactiva el cálculo y la actualización de pantalla durante ejecuciones largas.</a:t>
            </a:r>
            <a:endParaRPr lang="en-US" sz="1300" dirty="0"/>
          </a:p>
        </p:txBody>
      </p:sp>
      <p:sp>
        <p:nvSpPr>
          <p:cNvPr id="11" name="Shape 9"/>
          <p:cNvSpPr/>
          <p:nvPr/>
        </p:nvSpPr>
        <p:spPr>
          <a:xfrm>
            <a:off x="8186928" y="1737360"/>
            <a:ext cx="3453384" cy="54864"/>
          </a:xfrm>
          <a:prstGeom prst="rect">
            <a:avLst/>
          </a:prstGeom>
          <a:solidFill>
            <a:srgbClr val="C26A22"/>
          </a:solidFill>
          <a:ln/>
        </p:spPr>
      </p:sp>
      <p:sp>
        <p:nvSpPr>
          <p:cNvPr id="12" name="Text 10"/>
          <p:cNvSpPr/>
          <p:nvPr/>
        </p:nvSpPr>
        <p:spPr>
          <a:xfrm>
            <a:off x="8186928" y="1874520"/>
            <a:ext cx="3453384" cy="365760"/>
          </a:xfrm>
          <a:prstGeom prst="rect">
            <a:avLst/>
          </a:prstGeom>
          <a:noFill/>
          <a:ln/>
        </p:spPr>
        <p:txBody>
          <a:bodyPr wrap="square" lIns="0" tIns="0" rIns="0" bIns="0" rtlCol="0" anchor="ctr"/>
          <a:lstStyle/>
          <a:p>
            <a:pPr indent="0" marL="0">
              <a:buNone/>
            </a:pPr>
            <a:r>
              <a:rPr lang="en-US" sz="1600" b="1" dirty="0">
                <a:solidFill>
                  <a:srgbClr val="191A23"/>
                </a:solidFill>
                <a:latin typeface="Poppins" pitchFamily="34" charset="0"/>
                <a:ea typeface="Poppins" pitchFamily="34" charset="-122"/>
                <a:cs typeface="Poppins" pitchFamily="34" charset="-120"/>
              </a:rPr>
              <a:t>Mantenimiento</a:t>
            </a:r>
            <a:endParaRPr lang="en-US" sz="1600" dirty="0"/>
          </a:p>
        </p:txBody>
      </p:sp>
      <p:sp>
        <p:nvSpPr>
          <p:cNvPr id="13" name="Text 11"/>
          <p:cNvSpPr/>
          <p:nvPr/>
        </p:nvSpPr>
        <p:spPr>
          <a:xfrm>
            <a:off x="8186928" y="2286000"/>
            <a:ext cx="3453384" cy="2011680"/>
          </a:xfrm>
          <a:prstGeom prst="rect">
            <a:avLst/>
          </a:prstGeom>
          <a:noFill/>
          <a:ln/>
        </p:spPr>
        <p:txBody>
          <a:bodyPr wrap="square" lIns="0" tIns="0" rIns="0" bIns="0" rtlCol="0" anchor="t"/>
          <a:lstStyle/>
          <a:p>
            <a:pPr indent="0" marL="0">
              <a:lnSpc>
                <a:spcPct val="125000"/>
              </a:lnSpc>
              <a:buNone/>
            </a:pPr>
            <a:r>
              <a:rPr lang="en-US" sz="1300" dirty="0">
                <a:solidFill>
                  <a:srgbClr val="6E7180"/>
                </a:solidFill>
                <a:latin typeface="Poppins" pitchFamily="34" charset="0"/>
                <a:ea typeface="Poppins" pitchFamily="34" charset="-122"/>
                <a:cs typeface="Poppins" pitchFamily="34" charset="-120"/>
              </a:rPr>
              <a:t>Comenta el código, usa nombres descriptivos y estructura las macros en procedimientos independientes.</a:t>
            </a:r>
            <a:endParaRPr lang="en-US" sz="1300" dirty="0"/>
          </a:p>
        </p:txBody>
      </p:sp>
      <p:sp>
        <p:nvSpPr>
          <p:cNvPr id="14" name="Shape 12"/>
          <p:cNvSpPr/>
          <p:nvPr/>
        </p:nvSpPr>
        <p:spPr>
          <a:xfrm>
            <a:off x="548640" y="4572000"/>
            <a:ext cx="11091672" cy="1005840"/>
          </a:xfrm>
          <a:prstGeom prst="roundRect">
            <a:avLst>
              <a:gd name="adj" fmla="val 5455"/>
            </a:avLst>
          </a:prstGeom>
          <a:solidFill>
            <a:srgbClr val="312E81"/>
          </a:solidFill>
          <a:ln/>
        </p:spPr>
      </p:sp>
      <p:sp>
        <p:nvSpPr>
          <p:cNvPr id="15" name="Text 13"/>
          <p:cNvSpPr/>
          <p:nvPr/>
        </p:nvSpPr>
        <p:spPr>
          <a:xfrm>
            <a:off x="777240" y="4736592"/>
            <a:ext cx="10634472" cy="67665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Application.ScreenUpdating = False</a:t>
            </a:r>
            <a:endParaRPr lang="en-US" sz="1300" dirty="0"/>
          </a:p>
          <a:p>
            <a:pPr indent="0" marL="0">
              <a:lnSpc>
                <a:spcPct val="115000"/>
              </a:lnSpc>
              <a:buNone/>
            </a:pPr>
            <a:r>
              <a:rPr lang="en-US" sz="1300" dirty="0">
                <a:solidFill>
                  <a:srgbClr val="FFFFFF"/>
                </a:solidFill>
                <a:latin typeface="Consolas" pitchFamily="34" charset="0"/>
                <a:ea typeface="Consolas" pitchFamily="34" charset="-122"/>
                <a:cs typeface="Consolas" pitchFamily="34" charset="-120"/>
              </a:rPr>
              <a:t>Application.Calculation = xlCalculationManual</a:t>
            </a:r>
            <a:endParaRPr lang="en-US" sz="1300" dirty="0"/>
          </a:p>
        </p:txBody>
      </p:sp>
      <p:sp>
        <p:nvSpPr>
          <p:cNvPr id="16" name="Text 14"/>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900" dirty="0">
                <a:solidFill>
                  <a:srgbClr val="6E7180"/>
                </a:solidFill>
                <a:latin typeface="Poppins" pitchFamily="34" charset="0"/>
                <a:ea typeface="Poppins" pitchFamily="34" charset="-122"/>
                <a:cs typeface="Poppins"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3657600" cy="320040"/>
          </a:xfrm>
          <a:prstGeom prst="rect">
            <a:avLst/>
          </a:prstGeom>
          <a:noFill/>
          <a:ln/>
        </p:spPr>
        <p:txBody>
          <a:bodyPr wrap="square" lIns="0" tIns="0" rIns="0" bIns="0" rtlCol="0" anchor="ctr"/>
          <a:lstStyle/>
          <a:p>
            <a:pPr indent="0" marL="0">
              <a:buNone/>
            </a:pPr>
            <a:r>
              <a:rPr lang="en-US" sz="1200" b="1" spc="300" kern="0" dirty="0">
                <a:solidFill>
                  <a:srgbClr val="4F46E5"/>
                </a:solidFill>
                <a:latin typeface="Poppins" pitchFamily="34" charset="0"/>
                <a:ea typeface="Poppins" pitchFamily="34" charset="-122"/>
                <a:cs typeface="Poppins" pitchFamily="34" charset="-120"/>
              </a:rPr>
              <a:t>NÓVARIS</a:t>
            </a:r>
            <a:endParaRPr lang="en-US" sz="1200" dirty="0"/>
          </a:p>
        </p:txBody>
      </p:sp>
      <p:sp>
        <p:nvSpPr>
          <p:cNvPr id="3" name="Shape 1"/>
          <p:cNvSpPr/>
          <p:nvPr/>
        </p:nvSpPr>
        <p:spPr>
          <a:xfrm>
            <a:off x="548640" y="685800"/>
            <a:ext cx="11091672" cy="0"/>
          </a:xfrm>
          <a:prstGeom prst="line">
            <a:avLst/>
          </a:prstGeom>
          <a:noFill/>
          <a:ln w="15875">
            <a:solidFill>
              <a:srgbClr val="312E81"/>
            </a:solidFill>
            <a:prstDash val="solid"/>
          </a:ln>
        </p:spPr>
      </p:sp>
      <p:sp>
        <p:nvSpPr>
          <p:cNvPr id="4" name="Text 2"/>
          <p:cNvSpPr/>
          <p:nvPr/>
        </p:nvSpPr>
        <p:spPr>
          <a:xfrm>
            <a:off x="548640" y="822960"/>
            <a:ext cx="11091672" cy="640080"/>
          </a:xfrm>
          <a:prstGeom prst="rect">
            <a:avLst/>
          </a:prstGeom>
          <a:noFill/>
          <a:ln/>
        </p:spPr>
        <p:txBody>
          <a:bodyPr wrap="square" lIns="0" tIns="0" rIns="0" bIns="0" rtlCol="0" anchor="ctr"/>
          <a:lstStyle/>
          <a:p>
            <a:pPr indent="0" marL="0">
              <a:buNone/>
            </a:pPr>
            <a:r>
              <a:rPr lang="en-US" sz="2800" b="1" dirty="0">
                <a:solidFill>
                  <a:srgbClr val="191A23"/>
                </a:solidFill>
                <a:latin typeface="Lora" pitchFamily="34" charset="0"/>
                <a:ea typeface="Lora" pitchFamily="34" charset="-122"/>
                <a:cs typeface="Lora" pitchFamily="34" charset="-120"/>
              </a:rPr>
              <a:t>Recursos adicionales y referencias</a:t>
            </a:r>
            <a:endParaRPr lang="en-US" sz="2800" dirty="0"/>
          </a:p>
        </p:txBody>
      </p:sp>
      <p:sp>
        <p:nvSpPr>
          <p:cNvPr id="5" name="Text 3"/>
          <p:cNvSpPr/>
          <p:nvPr/>
        </p:nvSpPr>
        <p:spPr>
          <a:xfrm>
            <a:off x="548640" y="1920240"/>
            <a:ext cx="11091672" cy="32918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3C3D4A"/>
                </a:solidFill>
                <a:latin typeface="Poppins" pitchFamily="34" charset="0"/>
                <a:ea typeface="Poppins" pitchFamily="34" charset="-122"/>
                <a:cs typeface="Poppins" pitchFamily="34" charset="-120"/>
              </a:rPr>
              <a:t>Documentación oficial de VBA para Excel</a:t>
            </a:r>
            <a:endParaRPr lang="en-US" sz="1600" dirty="0"/>
          </a:p>
          <a:p>
            <a:pPr marL="342900" indent="-342900">
              <a:spcAft>
                <a:spcPts val="1000"/>
              </a:spcAft>
              <a:buSzPct val="100000"/>
              <a:buChar char="–"/>
            </a:pPr>
            <a:r>
              <a:rPr lang="en-US" sz="1600" dirty="0">
                <a:solidFill>
                  <a:srgbClr val="3C3D4A"/>
                </a:solidFill>
                <a:latin typeface="Poppins" pitchFamily="34" charset="0"/>
                <a:ea typeface="Poppins" pitchFamily="34" charset="-122"/>
                <a:cs typeface="Poppins" pitchFamily="34" charset="-120"/>
              </a:rPr>
              <a:t>Excel Macro Mastery (inglés)</a:t>
            </a:r>
            <a:endParaRPr lang="en-US" sz="1600" dirty="0"/>
          </a:p>
          <a:p>
            <a:pPr marL="342900" indent="-342900">
              <a:spcAft>
                <a:spcPts val="1000"/>
              </a:spcAft>
              <a:buSzPct val="100000"/>
              <a:buChar char="–"/>
            </a:pPr>
            <a:r>
              <a:rPr lang="en-US" sz="1600" dirty="0">
                <a:solidFill>
                  <a:srgbClr val="3C3D4A"/>
                </a:solidFill>
                <a:latin typeface="Poppins" pitchFamily="34" charset="0"/>
                <a:ea typeface="Poppins" pitchFamily="34" charset="-122"/>
                <a:cs typeface="Poppins" pitchFamily="34" charset="-120"/>
              </a:rPr>
              <a:t>Ibericavba: recursos en español sobre VBA</a:t>
            </a:r>
            <a:endParaRPr lang="en-US" sz="1600" dirty="0"/>
          </a:p>
          <a:p>
            <a:pPr marL="342900" indent="-342900">
              <a:spcAft>
                <a:spcPts val="1000"/>
              </a:spcAft>
              <a:buSzPct val="100000"/>
              <a:buChar char="–"/>
            </a:pPr>
            <a:r>
              <a:rPr lang="en-US" sz="1600" dirty="0">
                <a:solidFill>
                  <a:srgbClr val="3C3D4A"/>
                </a:solidFill>
                <a:latin typeface="Poppins" pitchFamily="34" charset="0"/>
                <a:ea typeface="Poppins" pitchFamily="34" charset="-122"/>
                <a:cs typeface="Poppins" pitchFamily="34" charset="-120"/>
              </a:rPr>
              <a:t>Libros recomendados: “Excel VBA Programming for Dummies”, “Macros y VBA para Microsoft Excel” de Anaya Multimedia</a:t>
            </a:r>
            <a:endParaRPr lang="en-US" sz="1600" dirty="0"/>
          </a:p>
        </p:txBody>
      </p:sp>
      <p:sp>
        <p:nvSpPr>
          <p:cNvPr id="6" name="Text 4"/>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900" dirty="0">
                <a:solidFill>
                  <a:srgbClr val="6E7180"/>
                </a:solidFill>
                <a:latin typeface="Poppins" pitchFamily="34" charset="0"/>
                <a:ea typeface="Poppins" pitchFamily="34" charset="-122"/>
                <a:cs typeface="Poppins"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312E81"/>
        </a:solidFill>
      </p:bgPr>
    </p:bg>
    <p:spTree>
      <p:nvGrpSpPr>
        <p:cNvPr id="1" name=""/>
        <p:cNvGrpSpPr/>
        <p:nvPr/>
      </p:nvGrpSpPr>
      <p:grpSpPr>
        <a:xfrm>
          <a:off x="0" y="0"/>
          <a:ext cx="0" cy="0"/>
          <a:chOff x="0" y="0"/>
          <a:chExt cx="0" cy="0"/>
        </a:xfrm>
      </p:grpSpPr>
      <p:sp>
        <p:nvSpPr>
          <p:cNvPr id="2" name="Text 0"/>
          <p:cNvSpPr/>
          <p:nvPr/>
        </p:nvSpPr>
        <p:spPr>
          <a:xfrm>
            <a:off x="548640" y="548640"/>
            <a:ext cx="3657600" cy="365760"/>
          </a:xfrm>
          <a:prstGeom prst="rect">
            <a:avLst/>
          </a:prstGeom>
          <a:noFill/>
          <a:ln/>
        </p:spPr>
        <p:txBody>
          <a:bodyPr wrap="square" lIns="0" tIns="0" rIns="0" bIns="0" rtlCol="0" anchor="ctr"/>
          <a:lstStyle/>
          <a:p>
            <a:pPr indent="0" marL="0">
              <a:buNone/>
            </a:pPr>
            <a:r>
              <a:rPr lang="en-US" sz="1300" b="1" spc="300" kern="0" dirty="0">
                <a:solidFill>
                  <a:srgbClr val="FFFFFF"/>
                </a:solidFill>
                <a:latin typeface="Poppins" pitchFamily="34" charset="0"/>
                <a:ea typeface="Poppins" pitchFamily="34" charset="-122"/>
                <a:cs typeface="Poppins" pitchFamily="34" charset="-120"/>
              </a:rPr>
              <a:t>NÓVARIS</a:t>
            </a:r>
            <a:endParaRPr lang="en-US" sz="1300" dirty="0"/>
          </a:p>
        </p:txBody>
      </p:sp>
      <p:sp>
        <p:nvSpPr>
          <p:cNvPr id="3" name="Shape 1"/>
          <p:cNvSpPr/>
          <p:nvPr/>
        </p:nvSpPr>
        <p:spPr>
          <a:xfrm>
            <a:off x="548640" y="960120"/>
            <a:ext cx="2011680" cy="0"/>
          </a:xfrm>
          <a:prstGeom prst="line">
            <a:avLst/>
          </a:prstGeom>
          <a:noFill/>
          <a:ln w="25400">
            <a:solidFill>
              <a:srgbClr val="E0833B"/>
            </a:solidFill>
            <a:prstDash val="solid"/>
          </a:ln>
        </p:spPr>
      </p:sp>
      <p:sp>
        <p:nvSpPr>
          <p:cNvPr id="4" name="Text 2"/>
          <p:cNvSpPr/>
          <p:nvPr/>
        </p:nvSpPr>
        <p:spPr>
          <a:xfrm>
            <a:off x="548640" y="2651760"/>
            <a:ext cx="9875520" cy="2103120"/>
          </a:xfrm>
          <a:prstGeom prst="rect">
            <a:avLst/>
          </a:prstGeom>
          <a:noFill/>
          <a:ln/>
        </p:spPr>
        <p:txBody>
          <a:bodyPr wrap="square" lIns="0" tIns="0" rIns="0" bIns="0" rtlCol="0" anchor="ctr"/>
          <a:lstStyle/>
          <a:p>
            <a:pPr indent="0" marL="0">
              <a:lnSpc>
                <a:spcPct val="130000"/>
              </a:lnSpc>
              <a:buNone/>
            </a:pPr>
            <a:r>
              <a:rPr lang="en-US" sz="2600" dirty="0">
                <a:solidFill>
                  <a:srgbClr val="FFFFFF"/>
                </a:solidFill>
                <a:latin typeface="Lora" pitchFamily="34" charset="0"/>
                <a:ea typeface="Lora" pitchFamily="34" charset="-122"/>
                <a:cs typeface="Lora" pitchFamily="34" charset="-120"/>
              </a:rPr>
              <a:t>Este manual proporciona una visión detallada y práctica para dominar la programación de macros en Excel, facilitando la automatización avanzada y el desarrollo de soluciones personalizadas.</a:t>
            </a:r>
            <a:endParaRPr lang="en-US" sz="2600" dirty="0"/>
          </a:p>
        </p:txBody>
      </p:sp>
      <p:sp>
        <p:nvSpPr>
          <p:cNvPr id="5" name="Text 3"/>
          <p:cNvSpPr/>
          <p:nvPr/>
        </p:nvSpPr>
        <p:spPr>
          <a:xfrm>
            <a:off x="548640" y="5029200"/>
            <a:ext cx="5486400" cy="548640"/>
          </a:xfrm>
          <a:prstGeom prst="rect">
            <a:avLst/>
          </a:prstGeom>
          <a:noFill/>
          <a:ln/>
        </p:spPr>
        <p:txBody>
          <a:bodyPr wrap="square" lIns="0" tIns="0" rIns="0" bIns="0" rtlCol="0" anchor="ctr"/>
          <a:lstStyle/>
          <a:p>
            <a:pPr indent="0" marL="0">
              <a:buNone/>
            </a:pPr>
            <a:r>
              <a:rPr lang="en-US" sz="1800" b="1" dirty="0">
                <a:solidFill>
                  <a:srgbClr val="E0833B"/>
                </a:solidFill>
                <a:latin typeface="Poppins" pitchFamily="34" charset="0"/>
                <a:ea typeface="Poppins" pitchFamily="34" charset="-122"/>
                <a:cs typeface="Poppins" pitchFamily="34" charset="-120"/>
              </a:rPr>
              <a:t>Gracias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Manual Completo de Macros en Excel</dc:title>
  <dc:subject>PptxGenJS Presentation</dc:subject>
  <dc:creator>Nóvaris</dc:creator>
  <cp:lastModifiedBy>Nóvaris</cp:lastModifiedBy>
  <cp:revision>1</cp:revision>
  <dcterms:created xsi:type="dcterms:W3CDTF">2026-09-17T11:41:09Z</dcterms:created>
  <dcterms:modified xsi:type="dcterms:W3CDTF">2026-09-17T11:41:09Z</dcterms:modified>
</cp:coreProperties>
</file>