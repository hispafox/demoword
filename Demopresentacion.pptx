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0000000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09600" cy="57150"/>
          </a:xfrm>
          <a:prstGeom prst="rect">
            <a:avLst/>
          </a:prstGeom>
          <a:solidFill>
            <a:srgbClr val="C26A22"/>
          </a:solidFill>
          <a:ln w="0">
            <a:solidFill>
              <a:srgbClr val="C26A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NÓVARIS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1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6286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80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Manual de</a:t>
            </a:r>
          </a:p>
          <a:p>
            <a:pPr>
              <a:defRPr sz="480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usuario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1-0004-4000-8000-000000000000}"/>
              </a:ext>
            </a:extLst>
          </p:cNvPr>
          <p:cNvSpPr>
            <a:spLocks noGrp="1"/>
          </p:cNvSpPr>
          <p:nvPr/>
        </p:nvSpPr>
        <p:spPr>
          <a:xfrm>
            <a:off x="723900" y="3790950"/>
            <a:ext cx="5810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Guía práctica para acceder, utilizar y resolver las dudas más habituales sobre la aplicación.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1-0005-4000-8000-000000000000}"/>
              </a:ext>
            </a:extLst>
          </p:cNvPr>
          <p:cNvSpPr>
            <a:spLocks noGrp="1"/>
          </p:cNvSpPr>
          <p:nvPr/>
        </p:nvSpPr>
        <p:spPr>
          <a:xfrm>
            <a:off x="8553450" y="990600"/>
            <a:ext cx="2286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40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840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000001-0006-4000-8000-000000000000}"/>
              </a:ext>
            </a:extLst>
          </p:cNvPr>
          <p:cNvSpPr>
            <a:spLocks noGrp="1"/>
          </p:cNvSpPr>
          <p:nvPr/>
        </p:nvSpPr>
        <p:spPr>
          <a:xfrm>
            <a:off x="8591550" y="23622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INTRODUCCIÓN Y ACCESO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000001-0007-4000-8000-000000000000}"/>
              </a:ext>
            </a:extLst>
          </p:cNvPr>
          <p:cNvSpPr>
            <a:spLocks noGrp="1"/>
          </p:cNvSpPr>
          <p:nvPr/>
        </p:nvSpPr>
        <p:spPr>
          <a:xfrm>
            <a:off x="8572500" y="2895600"/>
            <a:ext cx="2552700" cy="19050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000001-0008-4000-8000-000000000000}"/>
              </a:ext>
            </a:extLst>
          </p:cNvPr>
          <p:cNvSpPr>
            <a:spLocks noGrp="1"/>
          </p:cNvSpPr>
          <p:nvPr/>
        </p:nvSpPr>
        <p:spPr>
          <a:xfrm>
            <a:off x="8591550" y="31051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F46E5"/>
                </a:solidFill>
                <a:latin typeface="Aptos"/>
                <a:ea typeface="Aptos"/>
                <a:cs typeface="Aptos"/>
              </a:rPr>
              <a:t>02  USO DE LA APLICACIÓN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00001-0009-4000-8000-000000000000}"/>
              </a:ext>
            </a:extLst>
          </p:cNvPr>
          <p:cNvSpPr>
            <a:spLocks noGrp="1"/>
          </p:cNvSpPr>
          <p:nvPr/>
        </p:nvSpPr>
        <p:spPr>
          <a:xfrm>
            <a:off x="8591550" y="354330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03  SOPORTE Y BUENAS PRÁCTICAS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000001-000A-4000-8000-000000000000}"/>
              </a:ext>
            </a:extLst>
          </p:cNvPr>
          <p:cNvSpPr>
            <a:spLocks noGrp="1"/>
          </p:cNvSpPr>
          <p:nvPr/>
        </p:nvSpPr>
        <p:spPr>
          <a:xfrm>
            <a:off x="723900" y="57531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C26A2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26A22"/>
                </a:solidFill>
                <a:latin typeface="Aptos"/>
                <a:ea typeface="Aptos"/>
                <a:cs typeface="Aptos"/>
              </a:rPr>
              <a:t>Accede · revisa · confirma · comunica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000001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1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MANUAL DE USUARIO · NÓVARIS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1-000D-4000-8000-000000000000}"/>
              </a:ext>
            </a:extLst>
          </p:cNvPr>
          <p:cNvSpPr>
            <a:spLocks noGrp="1"/>
          </p:cNvSpPr>
          <p:nvPr/>
        </p:nvSpPr>
        <p:spPr>
          <a:xfrm>
            <a:off x="11010900" y="6429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0000000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F46E5"/>
                </a:solidFill>
                <a:latin typeface="Aptos"/>
                <a:ea typeface="Aptos"/>
                <a:cs typeface="Aptos"/>
              </a:rPr>
              <a:t>CAPÍTULO 1 · INTRODUCCIÓN Y ACCESO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2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2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5334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Empieza con tres requisitos</a:t>
            </a:r>
          </a:p>
          <a:p>
            <a:pPr>
              <a:def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y un acceso seguro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2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495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Antes del primer inicio de sesión, confirma que tu perfil está listo para trabajar.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000002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000002-0007-4000-8000-000000000000}"/>
              </a:ext>
            </a:extLst>
          </p:cNvPr>
          <p:cNvSpPr>
            <a:spLocks noGrp="1"/>
          </p:cNvSpPr>
          <p:nvPr/>
        </p:nvSpPr>
        <p:spPr>
          <a:xfrm>
            <a:off x="1314450" y="29908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Cuenta corporativa activa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000002-0008-4000-8000-000000000000}"/>
              </a:ext>
            </a:extLst>
          </p:cNvPr>
          <p:cNvSpPr>
            <a:spLocks noGrp="1"/>
          </p:cNvSpPr>
          <p:nvPr/>
        </p:nvSpPr>
        <p:spPr>
          <a:xfrm>
            <a:off x="1314450" y="32575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Tu usuario debe estar habilitado.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00002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000002-000A-4000-8000-000000000000}"/>
              </a:ext>
            </a:extLst>
          </p:cNvPr>
          <p:cNvSpPr>
            <a:spLocks noGrp="1"/>
          </p:cNvSpPr>
          <p:nvPr/>
        </p:nvSpPr>
        <p:spPr>
          <a:xfrm>
            <a:off x="1314450" y="37338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Conexión a Internet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000002-000B-4000-8000-000000000000}"/>
              </a:ext>
            </a:extLst>
          </p:cNvPr>
          <p:cNvSpPr>
            <a:spLocks noGrp="1"/>
          </p:cNvSpPr>
          <p:nvPr/>
        </p:nvSpPr>
        <p:spPr>
          <a:xfrm>
            <a:off x="1314450" y="400050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Comprueba una conexión estable.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2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2-000D-4000-8000-000000000000}"/>
              </a:ext>
            </a:extLst>
          </p:cNvPr>
          <p:cNvSpPr>
            <a:spLocks noGrp="1"/>
          </p:cNvSpPr>
          <p:nvPr/>
        </p:nvSpPr>
        <p:spPr>
          <a:xfrm>
            <a:off x="1314450" y="4476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Permisos asignados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000002-000E-4000-8000-000000000000}"/>
              </a:ext>
            </a:extLst>
          </p:cNvPr>
          <p:cNvSpPr>
            <a:spLocks noGrp="1"/>
          </p:cNvSpPr>
          <p:nvPr/>
        </p:nvSpPr>
        <p:spPr>
          <a:xfrm>
            <a:off x="1314450" y="47434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El acceso depende de tu perfil.</a:t>
            </a: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31667" y="1238250"/>
            <a:ext cx="5272216" cy="3048000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00000002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229350" y="43815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FIGURA 1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0000002-0010-4000-8000-000000000000}"/>
              </a:ext>
            </a:extLst>
          </p:cNvPr>
          <p:cNvSpPr>
            <a:spLocks noGrp="1"/>
          </p:cNvSpPr>
          <p:nvPr/>
        </p:nvSpPr>
        <p:spPr>
          <a:xfrm>
            <a:off x="7086600" y="43815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Planificación de vacaciones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000002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229350" y="4838700"/>
            <a:ext cx="5276850" cy="28575"/>
          </a:xfrm>
          <a:prstGeom prst="rect">
            <a:avLst/>
          </a:prstGeom>
          <a:solidFill>
            <a:srgbClr val="C26A22"/>
          </a:solidFill>
          <a:ln w="0">
            <a:solidFill>
              <a:srgbClr val="C26A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0000002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229350" y="50101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F46E5"/>
                </a:solidFill>
                <a:latin typeface="Aptos"/>
                <a:ea typeface="Aptos"/>
                <a:cs typeface="Aptos"/>
              </a:rPr>
              <a:t>ACCESO SEGURO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0000002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229350" y="5276850"/>
            <a:ext cx="5143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No compartas tus credenciales. Si detectas un acceso no reconocido, cambia la contraseña y comunica la incidencia.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0000002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000002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INTRODUCCIÓN Y ACCESO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0000002-0016-4000-8000-000000000000}"/>
              </a:ext>
            </a:extLst>
          </p:cNvPr>
          <p:cNvSpPr>
            <a:spLocks noGrp="1"/>
          </p:cNvSpPr>
          <p:nvPr/>
        </p:nvSpPr>
        <p:spPr>
          <a:xfrm>
            <a:off x="11010900" y="6429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00000003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F46E5"/>
                </a:solidFill>
                <a:latin typeface="Aptos"/>
                <a:ea typeface="Aptos"/>
                <a:cs typeface="Aptos"/>
              </a:rPr>
              <a:t>CAPÍTULO 2 · USO DE LA APLICACIÓN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3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3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3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7239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Completa cualquier operación</a:t>
            </a:r>
          </a:p>
          <a:p>
            <a:pPr>
              <a:def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en cuatro pasos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3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El orden importa: entra, completa, revisa y confirma el resultado.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895600"/>
            <a:ext cx="590550" cy="59055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0000003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2190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Accede al panel principal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000003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400050" cy="38100"/>
          </a:xfrm>
          <a:prstGeom prst="rect">
            <a:avLst/>
          </a:prstGeom>
          <a:solidFill>
            <a:srgbClr val="4F46E5"/>
          </a:solidFill>
          <a:ln w="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00003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2247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Inicia sesión y localiza el módulo desde el menú principal.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000003-0009-4000-8000-000000000000}"/>
              </a:ext>
            </a:extLst>
          </p:cNvPr>
          <p:cNvSpPr>
            <a:spLocks noGrp="1"/>
          </p:cNvSpPr>
          <p:nvPr/>
        </p:nvSpPr>
        <p:spPr>
          <a:xfrm>
            <a:off x="3181350" y="2895600"/>
            <a:ext cx="9525" cy="2724150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409950" y="2895600"/>
            <a:ext cx="590550" cy="59055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3-000A-4000-8000-000000000000}"/>
              </a:ext>
            </a:extLst>
          </p:cNvPr>
          <p:cNvSpPr>
            <a:spLocks noGrp="1"/>
          </p:cNvSpPr>
          <p:nvPr/>
        </p:nvSpPr>
        <p:spPr>
          <a:xfrm>
            <a:off x="3409950" y="3695700"/>
            <a:ext cx="2190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Introduce la información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3-000B-4000-8000-000000000000}"/>
              </a:ext>
            </a:extLst>
          </p:cNvPr>
          <p:cNvSpPr>
            <a:spLocks noGrp="1"/>
          </p:cNvSpPr>
          <p:nvPr/>
        </p:nvSpPr>
        <p:spPr>
          <a:xfrm>
            <a:off x="3409950" y="4438650"/>
            <a:ext cx="400050" cy="38100"/>
          </a:xfrm>
          <a:prstGeom prst="rect">
            <a:avLst/>
          </a:prstGeom>
          <a:solidFill>
            <a:srgbClr val="4F46E5"/>
          </a:solidFill>
          <a:ln w="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000003-000C-4000-8000-000000000000}"/>
              </a:ext>
            </a:extLst>
          </p:cNvPr>
          <p:cNvSpPr>
            <a:spLocks noGrp="1"/>
          </p:cNvSpPr>
          <p:nvPr/>
        </p:nvSpPr>
        <p:spPr>
          <a:xfrm>
            <a:off x="3409950" y="4629150"/>
            <a:ext cx="2247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Completa los campos obligatorios y añade los datos complementarios.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00003-000D-4000-8000-000000000000}"/>
              </a:ext>
            </a:extLst>
          </p:cNvPr>
          <p:cNvSpPr>
            <a:spLocks noGrp="1"/>
          </p:cNvSpPr>
          <p:nvPr/>
        </p:nvSpPr>
        <p:spPr>
          <a:xfrm>
            <a:off x="5905500" y="2895600"/>
            <a:ext cx="9525" cy="2724150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34100" y="2895600"/>
            <a:ext cx="590550" cy="590550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00000003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34100" y="3695700"/>
            <a:ext cx="2190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Revisa y guarda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000003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134100" y="4438650"/>
            <a:ext cx="400050" cy="38100"/>
          </a:xfrm>
          <a:prstGeom prst="rect">
            <a:avLst/>
          </a:prstGeom>
          <a:solidFill>
            <a:srgbClr val="C26A22"/>
          </a:solidFill>
          <a:ln w="0">
            <a:solidFill>
              <a:srgbClr val="C26A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0000003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134100" y="4629150"/>
            <a:ext cx="2247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Comprueba la información y pulsa Guardar o Enviar.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0000003-0011-4000-8000-000000000000}"/>
              </a:ext>
            </a:extLst>
          </p:cNvPr>
          <p:cNvSpPr>
            <a:spLocks noGrp="1"/>
          </p:cNvSpPr>
          <p:nvPr/>
        </p:nvSpPr>
        <p:spPr>
          <a:xfrm>
            <a:off x="8629650" y="2895600"/>
            <a:ext cx="9525" cy="2724150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858250" y="2895600"/>
            <a:ext cx="590550" cy="590550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00000003-0012-4000-8000-000000000000}"/>
              </a:ext>
            </a:extLst>
          </p:cNvPr>
          <p:cNvSpPr>
            <a:spLocks noGrp="1"/>
          </p:cNvSpPr>
          <p:nvPr/>
        </p:nvSpPr>
        <p:spPr>
          <a:xfrm>
            <a:off x="8858250" y="3695700"/>
            <a:ext cx="2190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Comprueba el estado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0000003-0013-4000-8000-000000000000}"/>
              </a:ext>
            </a:extLst>
          </p:cNvPr>
          <p:cNvSpPr>
            <a:spLocks noGrp="1"/>
          </p:cNvSpPr>
          <p:nvPr/>
        </p:nvSpPr>
        <p:spPr>
          <a:xfrm>
            <a:off x="8858250" y="4438650"/>
            <a:ext cx="400050" cy="38100"/>
          </a:xfrm>
          <a:prstGeom prst="rect">
            <a:avLst/>
          </a:prstGeom>
          <a:solidFill>
            <a:srgbClr val="4F46E5"/>
          </a:solidFill>
          <a:ln w="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000003-0014-4000-8000-000000000000}"/>
              </a:ext>
            </a:extLst>
          </p:cNvPr>
          <p:cNvSpPr>
            <a:spLocks noGrp="1"/>
          </p:cNvSpPr>
          <p:nvPr/>
        </p:nvSpPr>
        <p:spPr>
          <a:xfrm>
            <a:off x="8858250" y="4629150"/>
            <a:ext cx="2247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Verifica que el registro aparece con el estado esperado.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0000003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 i="0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4F46E5"/>
                </a:solidFill>
                <a:latin typeface="Aptos"/>
                <a:ea typeface="Aptos"/>
                <a:cs typeface="Aptos"/>
              </a:rPr>
              <a:t>GUARDAR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0000003-0016-4000-8000-000000000000}"/>
              </a:ext>
            </a:extLst>
          </p:cNvPr>
          <p:cNvSpPr>
            <a:spLocks noGrp="1"/>
          </p:cNvSpPr>
          <p:nvPr/>
        </p:nvSpPr>
        <p:spPr>
          <a:xfrm>
            <a:off x="1676400" y="58674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solo es el paso 3; confirma siempre el estado final.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0000003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0000003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OPERACIÓN HABITUAL · PASO A PASO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000003-0019-4000-8000-000000000000}"/>
              </a:ext>
            </a:extLst>
          </p:cNvPr>
          <p:cNvSpPr>
            <a:spLocks noGrp="1"/>
          </p:cNvSpPr>
          <p:nvPr/>
        </p:nvSpPr>
        <p:spPr>
          <a:xfrm>
            <a:off x="11010900" y="6429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00000004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F46E5"/>
                </a:solidFill>
                <a:latin typeface="Aptos"/>
                <a:ea typeface="Aptos"/>
                <a:cs typeface="Aptos"/>
              </a:rPr>
              <a:t>CAPÍTULO 2 · USO DE LA APLICACIÓN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4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4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4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5905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Revisar antes de guardar</a:t>
            </a:r>
          </a:p>
          <a:p>
            <a:pPr>
              <a:def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evita correcciones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4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514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Una comprobación breve reduce incidencias y retrabajo.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11963" y="2705100"/>
            <a:ext cx="4938925" cy="302895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0000004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FIGURA 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000004-0007-4000-8000-000000000000}"/>
              </a:ext>
            </a:extLst>
          </p:cNvPr>
          <p:cNvSpPr>
            <a:spLocks noGrp="1"/>
          </p:cNvSpPr>
          <p:nvPr/>
        </p:nvSpPr>
        <p:spPr>
          <a:xfrm>
            <a:off x="1543050" y="58293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Solicitud y aprobación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00004-0008-4000-8000-000000000000}"/>
              </a:ext>
            </a:extLst>
          </p:cNvPr>
          <p:cNvSpPr>
            <a:spLocks noGrp="1"/>
          </p:cNvSpPr>
          <p:nvPr/>
        </p:nvSpPr>
        <p:spPr>
          <a:xfrm>
            <a:off x="7334250" y="1085850"/>
            <a:ext cx="57150" cy="4667250"/>
          </a:xfrm>
          <a:prstGeom prst="rect">
            <a:avLst/>
          </a:prstGeom>
          <a:solidFill>
            <a:srgbClr val="C26A22"/>
          </a:solidFill>
          <a:ln w="0">
            <a:solidFill>
              <a:srgbClr val="C26A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000004-0009-4000-8000-000000000000}"/>
              </a:ext>
            </a:extLst>
          </p:cNvPr>
          <p:cNvSpPr>
            <a:spLocks noGrp="1"/>
          </p:cNvSpPr>
          <p:nvPr/>
        </p:nvSpPr>
        <p:spPr>
          <a:xfrm>
            <a:off x="7696200" y="11430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F46E5"/>
                </a:solidFill>
                <a:latin typeface="Aptos"/>
                <a:ea typeface="Aptos"/>
                <a:cs typeface="Aptos"/>
              </a:rPr>
              <a:t>ANTES DE GUARDAR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0000004-000A-4000-8000-000000000000}"/>
              </a:ext>
            </a:extLst>
          </p:cNvPr>
          <p:cNvSpPr>
            <a:spLocks noGrp="1"/>
          </p:cNvSpPr>
          <p:nvPr/>
        </p:nvSpPr>
        <p:spPr>
          <a:xfrm>
            <a:off x="7696200" y="1714500"/>
            <a:ext cx="152400" cy="152400"/>
          </a:xfrm>
          <a:prstGeom prst="ellipse">
            <a:avLst/>
          </a:prstGeom>
          <a:solidFill>
            <a:srgbClr val="C26A22"/>
          </a:solidFill>
          <a:ln w="0">
            <a:solidFill>
              <a:srgbClr val="C26A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4-000B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167640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Campos obligatorios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4-000C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196215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No dejes información pendiente.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0000004-000D-4000-8000-000000000000}"/>
              </a:ext>
            </a:extLst>
          </p:cNvPr>
          <p:cNvSpPr>
            <a:spLocks noGrp="1"/>
          </p:cNvSpPr>
          <p:nvPr/>
        </p:nvSpPr>
        <p:spPr>
          <a:xfrm>
            <a:off x="7696200" y="2581275"/>
            <a:ext cx="152400" cy="152400"/>
          </a:xfrm>
          <a:prstGeom prst="ellipse">
            <a:avLst/>
          </a:prstGeom>
          <a:solidFill>
            <a:srgbClr val="C26A22"/>
          </a:solidFill>
          <a:ln w="0">
            <a:solidFill>
              <a:srgbClr val="C26A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00004-000E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25431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Importes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000004-000F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2828925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Comprueba cifras y unidades.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00000004-0010-4000-8000-000000000000}"/>
              </a:ext>
            </a:extLst>
          </p:cNvPr>
          <p:cNvSpPr>
            <a:spLocks noGrp="1"/>
          </p:cNvSpPr>
          <p:nvPr/>
        </p:nvSpPr>
        <p:spPr>
          <a:xfrm>
            <a:off x="7696200" y="3448050"/>
            <a:ext cx="152400" cy="152400"/>
          </a:xfrm>
          <a:prstGeom prst="ellipse">
            <a:avLst/>
          </a:prstGeom>
          <a:solidFill>
            <a:srgbClr val="C26A22"/>
          </a:solidFill>
          <a:ln w="0">
            <a:solidFill>
              <a:srgbClr val="C26A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000004-0011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34099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Fechas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0000004-0012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369570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Verifica inicio, fin y plazos.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0000004-0013-4000-8000-000000000000}"/>
              </a:ext>
            </a:extLst>
          </p:cNvPr>
          <p:cNvSpPr>
            <a:spLocks noGrp="1"/>
          </p:cNvSpPr>
          <p:nvPr/>
        </p:nvSpPr>
        <p:spPr>
          <a:xfrm>
            <a:off x="7696200" y="4314825"/>
            <a:ext cx="152400" cy="152400"/>
          </a:xfrm>
          <a:prstGeom prst="ellipse">
            <a:avLst/>
          </a:prstGeom>
          <a:solidFill>
            <a:srgbClr val="C26A22"/>
          </a:solidFill>
          <a:ln w="0">
            <a:solidFill>
              <a:srgbClr val="C26A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0000004-0014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427672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Adjuntos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000004-0015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4562475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Incluye los documentos requeridos.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0000004-0016-4000-8000-000000000000}"/>
              </a:ext>
            </a:extLst>
          </p:cNvPr>
          <p:cNvSpPr>
            <a:spLocks noGrp="1"/>
          </p:cNvSpPr>
          <p:nvPr/>
        </p:nvSpPr>
        <p:spPr>
          <a:xfrm>
            <a:off x="7696200" y="5219700"/>
            <a:ext cx="323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 i="0">
                <a:solidFill>
                  <a:srgbClr val="C26A22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C26A22"/>
                </a:solidFill>
                <a:latin typeface="Aptos Display"/>
                <a:ea typeface="Aptos Display"/>
                <a:cs typeface="Aptos Display"/>
              </a:rPr>
              <a:t>Revisa una vez.</a:t>
            </a:r>
          </a:p>
          <a:p>
            <a:pPr>
              <a:defRPr sz="2025" b="1" i="0">
                <a:solidFill>
                  <a:srgbClr val="C26A22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C26A22"/>
                </a:solidFill>
                <a:latin typeface="Aptos Display"/>
                <a:ea typeface="Aptos Display"/>
                <a:cs typeface="Aptos Display"/>
              </a:rPr>
              <a:t>Corrige cero veces.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000004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0000004-0018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CONTROL ANTES DE ENVIAR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0000004-0019-4000-8000-000000000000}"/>
              </a:ext>
            </a:extLst>
          </p:cNvPr>
          <p:cNvSpPr>
            <a:spLocks noGrp="1"/>
          </p:cNvSpPr>
          <p:nvPr/>
        </p:nvSpPr>
        <p:spPr>
          <a:xfrm>
            <a:off x="11010900" y="6429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00000005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F46E5"/>
                </a:solidFill>
                <a:latin typeface="Aptos"/>
                <a:ea typeface="Aptos"/>
                <a:cs typeface="Aptos"/>
              </a:rPr>
              <a:t>CAPÍTULO 2 · USO DE LA APLICACIÓN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5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5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5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191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La operación termina cuando</a:t>
            </a:r>
          </a:p>
          <a:p>
            <a:pPr>
              <a:def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puedes confirmarla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5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Guardar no basta: busca una señal visible de que el registro quedó completo.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000005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F46E5"/>
                </a:solidFill>
                <a:latin typeface="Aptos"/>
                <a:ea typeface="Aptos"/>
                <a:cs typeface="Aptos"/>
              </a:rPr>
              <a:t>CONFIRMACIÓN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000005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 i="0">
                <a:solidFill>
                  <a:srgbClr val="C26A2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C26A22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000005-0008-4000-8000-000000000000}"/>
              </a:ext>
            </a:extLst>
          </p:cNvPr>
          <p:cNvSpPr>
            <a:spLocks noGrp="1"/>
          </p:cNvSpPr>
          <p:nvPr/>
        </p:nvSpPr>
        <p:spPr>
          <a:xfrm>
            <a:off x="1409700" y="34480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Mensaje recibido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00005-0009-4000-8000-000000000000}"/>
              </a:ext>
            </a:extLst>
          </p:cNvPr>
          <p:cNvSpPr>
            <a:spLocks noGrp="1"/>
          </p:cNvSpPr>
          <p:nvPr/>
        </p:nvSpPr>
        <p:spPr>
          <a:xfrm>
            <a:off x="1409700" y="37528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La aplicación confirma la acción.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000005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 i="0">
                <a:solidFill>
                  <a:srgbClr val="C26A2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C26A2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000005-000B-4000-8000-000000000000}"/>
              </a:ext>
            </a:extLst>
          </p:cNvPr>
          <p:cNvSpPr>
            <a:spLocks noGrp="1"/>
          </p:cNvSpPr>
          <p:nvPr/>
        </p:nvSpPr>
        <p:spPr>
          <a:xfrm>
            <a:off x="1409700" y="42862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Registro visible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5-000C-4000-8000-000000000000}"/>
              </a:ext>
            </a:extLst>
          </p:cNvPr>
          <p:cNvSpPr>
            <a:spLocks noGrp="1"/>
          </p:cNvSpPr>
          <p:nvPr/>
        </p:nvSpPr>
        <p:spPr>
          <a:xfrm>
            <a:off x="1409700" y="4591050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La operación aparece en el listado.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5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 i="0">
                <a:solidFill>
                  <a:srgbClr val="C26A2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C26A22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000005-000E-4000-8000-000000000000}"/>
              </a:ext>
            </a:extLst>
          </p:cNvPr>
          <p:cNvSpPr>
            <a:spLocks noGrp="1"/>
          </p:cNvSpPr>
          <p:nvPr/>
        </p:nvSpPr>
        <p:spPr>
          <a:xfrm>
            <a:off x="1409700" y="51244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Estado esperado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00005-000F-4000-8000-000000000000}"/>
              </a:ext>
            </a:extLst>
          </p:cNvPr>
          <p:cNvSpPr>
            <a:spLocks noGrp="1"/>
          </p:cNvSpPr>
          <p:nvPr/>
        </p:nvSpPr>
        <p:spPr>
          <a:xfrm>
            <a:off x="1409700" y="54292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El estado coincide con el flujo previsto.</a:t>
            </a: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74856" y="2762250"/>
            <a:ext cx="5642887" cy="2876550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00000005-0010-4000-8000-000000000000}"/>
              </a:ext>
            </a:extLst>
          </p:cNvPr>
          <p:cNvSpPr>
            <a:spLocks noGrp="1"/>
          </p:cNvSpPr>
          <p:nvPr/>
        </p:nvSpPr>
        <p:spPr>
          <a:xfrm>
            <a:off x="5486400" y="5791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FIGURA 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000005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343650" y="579120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Registro y control de ausencias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0000005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0000005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CONFIRMACIÓN DE LA OPERACIÓN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0000005-0014-4000-8000-000000000000}"/>
              </a:ext>
            </a:extLst>
          </p:cNvPr>
          <p:cNvSpPr>
            <a:spLocks noGrp="1"/>
          </p:cNvSpPr>
          <p:nvPr/>
        </p:nvSpPr>
        <p:spPr>
          <a:xfrm>
            <a:off x="11010900" y="6429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00000006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F46E5"/>
                </a:solidFill>
                <a:latin typeface="Aptos"/>
                <a:ea typeface="Aptos"/>
                <a:cs typeface="Aptos"/>
              </a:rPr>
              <a:t>CAPÍTULO 3 · SOPORTE Y BUENAS PRÁCTICAS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6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6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6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191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Una incidencia útil explica</a:t>
            </a:r>
          </a:p>
          <a:p>
            <a:pPr>
              <a:def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qué pasó y dónde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6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619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Cuanto más contexto reciba soporte, más fácil será diagnosticar el problema.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000006-0006-4000-8000-000000000000}"/>
              </a:ext>
            </a:extLst>
          </p:cNvPr>
          <p:cNvSpPr>
            <a:spLocks noGrp="1"/>
          </p:cNvSpPr>
          <p:nvPr/>
        </p:nvSpPr>
        <p:spPr>
          <a:xfrm>
            <a:off x="8515350" y="1028700"/>
            <a:ext cx="2476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950" b="1" i="0">
                <a:solidFill>
                  <a:srgbClr val="C26A22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 i="0">
                <a:solidFill>
                  <a:srgbClr val="C26A22"/>
                </a:solidFill>
                <a:latin typeface="Aptos Display"/>
                <a:ea typeface="Aptos Display"/>
                <a:cs typeface="Aptos Display"/>
              </a:rPr>
              <a:t>24 h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000006-0007-4000-8000-000000000000}"/>
              </a:ext>
            </a:extLst>
          </p:cNvPr>
          <p:cNvSpPr>
            <a:spLocks noGrp="1"/>
          </p:cNvSpPr>
          <p:nvPr/>
        </p:nvSpPr>
        <p:spPr>
          <a:xfrm>
            <a:off x="8534400" y="18859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plazo recomendado para comunicar incidencias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000006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820400" cy="19050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00006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F46E5"/>
                </a:solidFill>
                <a:latin typeface="Aptos"/>
                <a:ea typeface="Aptos"/>
                <a:cs typeface="Aptos"/>
              </a:rPr>
              <a:t>ANOTA EN EL MOMENTO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000006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C26A2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26A2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000006-000B-4000-8000-000000000000}"/>
              </a:ext>
            </a:extLst>
          </p:cNvPr>
          <p:cNvSpPr>
            <a:spLocks noGrp="1"/>
          </p:cNvSpPr>
          <p:nvPr/>
        </p:nvSpPr>
        <p:spPr>
          <a:xfrm>
            <a:off x="1200150" y="35814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Momento del error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6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C26A2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26A2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6-000D-4000-8000-000000000000}"/>
              </a:ext>
            </a:extLst>
          </p:cNvPr>
          <p:cNvSpPr>
            <a:spLocks noGrp="1"/>
          </p:cNvSpPr>
          <p:nvPr/>
        </p:nvSpPr>
        <p:spPr>
          <a:xfrm>
            <a:off x="1200150" y="40576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Acción realizada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000006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C26A2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26A2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00006-000F-4000-8000-000000000000}"/>
              </a:ext>
            </a:extLst>
          </p:cNvPr>
          <p:cNvSpPr>
            <a:spLocks noGrp="1"/>
          </p:cNvSpPr>
          <p:nvPr/>
        </p:nvSpPr>
        <p:spPr>
          <a:xfrm>
            <a:off x="1200150" y="45339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Mensaje mostrado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000006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C26A2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26A2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0000006-0011-4000-8000-000000000000}"/>
              </a:ext>
            </a:extLst>
          </p:cNvPr>
          <p:cNvSpPr>
            <a:spLocks noGrp="1"/>
          </p:cNvSpPr>
          <p:nvPr/>
        </p:nvSpPr>
        <p:spPr>
          <a:xfrm>
            <a:off x="1200150" y="50101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Captura, si es posible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000006-0012-4000-8000-000000000000}"/>
              </a:ext>
            </a:extLst>
          </p:cNvPr>
          <p:cNvSpPr>
            <a:spLocks noGrp="1"/>
          </p:cNvSpPr>
          <p:nvPr/>
        </p:nvSpPr>
        <p:spPr>
          <a:xfrm>
            <a:off x="4457700" y="3124200"/>
            <a:ext cx="19050" cy="2343150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0000006-0013-4000-8000-000000000000}"/>
              </a:ext>
            </a:extLst>
          </p:cNvPr>
          <p:cNvSpPr>
            <a:spLocks noGrp="1"/>
          </p:cNvSpPr>
          <p:nvPr/>
        </p:nvSpPr>
        <p:spPr>
          <a:xfrm>
            <a:off x="4857750" y="31242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F46E5"/>
                </a:solidFill>
                <a:latin typeface="Aptos"/>
                <a:ea typeface="Aptos"/>
                <a:cs typeface="Aptos"/>
              </a:rPr>
              <a:t>INCLUYE AL COMUNICAR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0000006-0014-4000-8000-000000000000}"/>
              </a:ext>
            </a:extLst>
          </p:cNvPr>
          <p:cNvSpPr>
            <a:spLocks noGrp="1"/>
          </p:cNvSpPr>
          <p:nvPr/>
        </p:nvSpPr>
        <p:spPr>
          <a:xfrm>
            <a:off x="4857750" y="35814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C26A2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26A2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0000006-0015-4000-8000-000000000000}"/>
              </a:ext>
            </a:extLst>
          </p:cNvPr>
          <p:cNvSpPr>
            <a:spLocks noGrp="1"/>
          </p:cNvSpPr>
          <p:nvPr/>
        </p:nvSpPr>
        <p:spPr>
          <a:xfrm>
            <a:off x="5372100" y="35814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Usuario afectado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000006-0016-4000-8000-000000000000}"/>
              </a:ext>
            </a:extLst>
          </p:cNvPr>
          <p:cNvSpPr>
            <a:spLocks noGrp="1"/>
          </p:cNvSpPr>
          <p:nvPr/>
        </p:nvSpPr>
        <p:spPr>
          <a:xfrm>
            <a:off x="4857750" y="40576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C26A2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26A2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0000006-0017-4000-8000-000000000000}"/>
              </a:ext>
            </a:extLst>
          </p:cNvPr>
          <p:cNvSpPr>
            <a:spLocks noGrp="1"/>
          </p:cNvSpPr>
          <p:nvPr/>
        </p:nvSpPr>
        <p:spPr>
          <a:xfrm>
            <a:off x="5372100" y="40576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Módulo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000006-0018-4000-8000-000000000000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C26A2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26A2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0000006-0019-4000-8000-000000000000}"/>
              </a:ext>
            </a:extLst>
          </p:cNvPr>
          <p:cNvSpPr>
            <a:spLocks noGrp="1"/>
          </p:cNvSpPr>
          <p:nvPr/>
        </p:nvSpPr>
        <p:spPr>
          <a:xfrm>
            <a:off x="5372100" y="45339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Fecha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0000006-001A-4000-8000-000000000000}"/>
              </a:ext>
            </a:extLst>
          </p:cNvPr>
          <p:cNvSpPr>
            <a:spLocks noGrp="1"/>
          </p:cNvSpPr>
          <p:nvPr/>
        </p:nvSpPr>
        <p:spPr>
          <a:xfrm>
            <a:off x="4857750" y="50101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C26A22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26A2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0000006-001B-4000-8000-000000000000}"/>
              </a:ext>
            </a:extLst>
          </p:cNvPr>
          <p:cNvSpPr>
            <a:spLocks noGrp="1"/>
          </p:cNvSpPr>
          <p:nvPr/>
        </p:nvSpPr>
        <p:spPr>
          <a:xfrm>
            <a:off x="5372100" y="50101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Descripción y pasos previos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0000006-001C-4000-8000-000000000000}"/>
              </a:ext>
            </a:extLst>
          </p:cNvPr>
          <p:cNvSpPr>
            <a:spLocks noGrp="1"/>
          </p:cNvSpPr>
          <p:nvPr/>
        </p:nvSpPr>
        <p:spPr>
          <a:xfrm>
            <a:off x="8629650" y="3124200"/>
            <a:ext cx="19050" cy="2343150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000006-001D-4000-8000-000000000000}"/>
              </a:ext>
            </a:extLst>
          </p:cNvPr>
          <p:cNvSpPr>
            <a:spLocks noGrp="1"/>
          </p:cNvSpPr>
          <p:nvPr/>
        </p:nvSpPr>
        <p:spPr>
          <a:xfrm>
            <a:off x="9029700" y="31242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 i="0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F46E5"/>
                </a:solidFill>
                <a:latin typeface="Aptos"/>
                <a:ea typeface="Aptos"/>
                <a:cs typeface="Aptos"/>
              </a:rPr>
              <a:t>CIERRE SEGURO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0000006-001E-4000-8000-000000000000}"/>
              </a:ext>
            </a:extLst>
          </p:cNvPr>
          <p:cNvSpPr>
            <a:spLocks noGrp="1"/>
          </p:cNvSpPr>
          <p:nvPr/>
        </p:nvSpPr>
        <p:spPr>
          <a:xfrm>
            <a:off x="9029700" y="3581400"/>
            <a:ext cx="2190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Cierra sesión al terminar, especialmente si utilizas un equipo compartido.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0000006-001F-4000-8000-000000000000}"/>
              </a:ext>
            </a:extLst>
          </p:cNvPr>
          <p:cNvSpPr>
            <a:spLocks noGrp="1"/>
          </p:cNvSpPr>
          <p:nvPr/>
        </p:nvSpPr>
        <p:spPr>
          <a:xfrm>
            <a:off x="9029700" y="4953000"/>
            <a:ext cx="552450" cy="47625"/>
          </a:xfrm>
          <a:prstGeom prst="rect">
            <a:avLst/>
          </a:prstGeom>
          <a:solidFill>
            <a:srgbClr val="C26A22"/>
          </a:solidFill>
          <a:ln w="0">
            <a:solidFill>
              <a:srgbClr val="C26A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0000006-0020-4000-8000-000000000000}"/>
              </a:ext>
            </a:extLst>
          </p:cNvPr>
          <p:cNvSpPr>
            <a:spLocks noGrp="1"/>
          </p:cNvSpPr>
          <p:nvPr/>
        </p:nvSpPr>
        <p:spPr>
          <a:xfrm>
            <a:off x="9029700" y="5124450"/>
            <a:ext cx="2190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Avisa pronto.</a:t>
            </a:r>
          </a:p>
          <a:p>
            <a:pPr>
              <a:defRPr sz="1200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Describe con precisión.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0000006-0021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0000006-002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SOPORTE E INCIDENCIAS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0000006-0023-4000-8000-000000000000}"/>
              </a:ext>
            </a:extLst>
          </p:cNvPr>
          <p:cNvSpPr>
            <a:spLocks noGrp="1"/>
          </p:cNvSpPr>
          <p:nvPr/>
        </p:nvSpPr>
        <p:spPr>
          <a:xfrm>
            <a:off x="11010900" y="6429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00000007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F46E5"/>
                </a:solidFill>
                <a:latin typeface="Aptos"/>
                <a:ea typeface="Aptos"/>
                <a:cs typeface="Aptos"/>
              </a:rPr>
              <a:t>RESUMEN RÁPIDO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000007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000007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0000007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685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Accede, revisa, confirma</a:t>
            </a:r>
          </a:p>
          <a:p>
            <a:pPr>
              <a:defRPr sz="322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y comunica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000007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Cuatro verbos convierten el manual en una rutina segura y consistente.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000007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1000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ACCEDE  /  REVISA  /  CONFIRMA  /  COMUNICA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000007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10820400" cy="19050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000007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000007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Seguridad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0000007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495300" cy="38100"/>
          </a:xfrm>
          <a:prstGeom prst="rect">
            <a:avLst/>
          </a:prstGeom>
          <a:solidFill>
            <a:srgbClr val="4F46E5"/>
          </a:solidFill>
          <a:ln w="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000007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Usa tus credenciales, protege la contraseña y cierra sesión al terminar.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000007-000C-4000-8000-000000000000}"/>
              </a:ext>
            </a:extLst>
          </p:cNvPr>
          <p:cNvSpPr>
            <a:spLocks noGrp="1"/>
          </p:cNvSpPr>
          <p:nvPr/>
        </p:nvSpPr>
        <p:spPr>
          <a:xfrm>
            <a:off x="4381500" y="37338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00007-000D-4000-8000-000000000000}"/>
              </a:ext>
            </a:extLst>
          </p:cNvPr>
          <p:cNvSpPr>
            <a:spLocks noGrp="1"/>
          </p:cNvSpPr>
          <p:nvPr/>
        </p:nvSpPr>
        <p:spPr>
          <a:xfrm>
            <a:off x="4381500" y="43053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Calidad del dato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000007-000E-4000-8000-000000000000}"/>
              </a:ext>
            </a:extLst>
          </p:cNvPr>
          <p:cNvSpPr>
            <a:spLocks noGrp="1"/>
          </p:cNvSpPr>
          <p:nvPr/>
        </p:nvSpPr>
        <p:spPr>
          <a:xfrm>
            <a:off x="4381500" y="4781550"/>
            <a:ext cx="495300" cy="38100"/>
          </a:xfrm>
          <a:prstGeom prst="rect">
            <a:avLst/>
          </a:prstGeom>
          <a:solidFill>
            <a:srgbClr val="4F46E5"/>
          </a:solidFill>
          <a:ln w="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000007-000F-4000-8000-000000000000}"/>
              </a:ext>
            </a:extLst>
          </p:cNvPr>
          <p:cNvSpPr>
            <a:spLocks noGrp="1"/>
          </p:cNvSpPr>
          <p:nvPr/>
        </p:nvSpPr>
        <p:spPr>
          <a:xfrm>
            <a:off x="4381500" y="501015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Completa los campos, revisa la información y evita registros duplicados.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000007-0010-4000-8000-000000000000}"/>
              </a:ext>
            </a:extLst>
          </p:cNvPr>
          <p:cNvSpPr>
            <a:spLocks noGrp="1"/>
          </p:cNvSpPr>
          <p:nvPr/>
        </p:nvSpPr>
        <p:spPr>
          <a:xfrm>
            <a:off x="8077200" y="37338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 i="0">
                <a:solidFill>
                  <a:srgbClr val="C26A2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C26A22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0000007-0011-4000-8000-000000000000}"/>
              </a:ext>
            </a:extLst>
          </p:cNvPr>
          <p:cNvSpPr>
            <a:spLocks noGrp="1"/>
          </p:cNvSpPr>
          <p:nvPr/>
        </p:nvSpPr>
        <p:spPr>
          <a:xfrm>
            <a:off x="8077200" y="43053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312E81"/>
                </a:solidFill>
                <a:latin typeface="Aptos Display"/>
                <a:ea typeface="Aptos Display"/>
                <a:cs typeface="Aptos Display"/>
              </a:rPr>
              <a:t>Soporte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000007-0012-4000-8000-000000000000}"/>
              </a:ext>
            </a:extLst>
          </p:cNvPr>
          <p:cNvSpPr>
            <a:spLocks noGrp="1"/>
          </p:cNvSpPr>
          <p:nvPr/>
        </p:nvSpPr>
        <p:spPr>
          <a:xfrm>
            <a:off x="8077200" y="4781550"/>
            <a:ext cx="495300" cy="38100"/>
          </a:xfrm>
          <a:prstGeom prst="rect">
            <a:avLst/>
          </a:prstGeom>
          <a:solidFill>
            <a:srgbClr val="C26A22"/>
          </a:solidFill>
          <a:ln w="0">
            <a:solidFill>
              <a:srgbClr val="C26A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0000007-0013-4000-8000-000000000000}"/>
              </a:ext>
            </a:extLst>
          </p:cNvPr>
          <p:cNvSpPr>
            <a:spLocks noGrp="1"/>
          </p:cNvSpPr>
          <p:nvPr/>
        </p:nvSpPr>
        <p:spPr>
          <a:xfrm>
            <a:off x="8077200" y="501015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33343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33343F"/>
                </a:solidFill>
                <a:latin typeface="Aptos"/>
                <a:ea typeface="Aptos"/>
                <a:cs typeface="Aptos"/>
              </a:rPr>
              <a:t>Comunica pronto el error con módulo, fecha, descripción y pasos previos.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0000007-0014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NÓVARIS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0000007-0015-4000-8000-000000000000}"/>
              </a:ext>
            </a:extLst>
          </p:cNvPr>
          <p:cNvSpPr>
            <a:spLocks noGrp="1"/>
          </p:cNvSpPr>
          <p:nvPr/>
        </p:nvSpPr>
        <p:spPr>
          <a:xfrm>
            <a:off x="2457450" y="5981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Manual de usuario · consulta rápida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000007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9D8E3"/>
          </a:solidFill>
          <a:ln w="0">
            <a:solidFill>
              <a:srgbClr val="D9D8E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0000007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E71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180"/>
                </a:solidFill>
                <a:latin typeface="Aptos"/>
                <a:ea typeface="Aptos"/>
                <a:cs typeface="Aptos"/>
              </a:rPr>
              <a:t>SOPORTE Y BUENAS PRÁCTICAS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000007-0018-4000-8000-000000000000}"/>
              </a:ext>
            </a:extLst>
          </p:cNvPr>
          <p:cNvSpPr>
            <a:spLocks noGrp="1"/>
          </p:cNvSpPr>
          <p:nvPr/>
        </p:nvSpPr>
        <p:spPr>
          <a:xfrm>
            <a:off x="11010900" y="6429375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 i="0">
                <a:solidFill>
                  <a:srgbClr val="312E81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312E8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00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565</Words>
  <Application>Microsoft Office PowerPoint</Application>
  <PresentationFormat>Panorámica</PresentationFormat>
  <Paragraphs>137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José Hernández Muñoz</dc:creator>
  <cp:lastModifiedBy>Pedro José Hernández Muñoz</cp:lastModifiedBy>
  <cp:revision>1</cp:revision>
  <dcterms:created xsi:type="dcterms:W3CDTF">2026-09-17T10:40:15Z</dcterms:created>
  <dcterms:modified xsi:type="dcterms:W3CDTF">2026-09-17T10:43:35Z</dcterms:modified>
</cp:coreProperties>
</file>